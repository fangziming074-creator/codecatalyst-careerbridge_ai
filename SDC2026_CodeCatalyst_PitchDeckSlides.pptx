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077f82872241c5" /><Relationship Type="http://schemas.openxmlformats.org/officeDocument/2006/relationships/extended-properties" Target="/docProps/app.xml" Id="Ra3244df5081a4c81" /><Relationship Type="http://schemas.openxmlformats.org/officeDocument/2006/relationships/officeDocument" Target="/ppt/presentation.xml" Id="Ra826e805234d4e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008efa2eac043e4"/>
  </p:sldMasterIdLst>
  <p:notesMasterIdLst>
    <p:notesMasterId xmlns:r="http://schemas.openxmlformats.org/officeDocument/2006/relationships" r:id="R19406d686d1e4c12"/>
  </p:notesMasterIdLst>
  <p:sldIdLst>
    <p:sldId xmlns:r="http://schemas.openxmlformats.org/officeDocument/2006/relationships" id="256" r:id="R0a7aff408ca2434b"/>
    <p:sldId xmlns:r="http://schemas.openxmlformats.org/officeDocument/2006/relationships" id="257" r:id="R02059724af4e4278"/>
    <p:sldId xmlns:r="http://schemas.openxmlformats.org/officeDocument/2006/relationships" id="258" r:id="Raedaf03c54f84fba"/>
    <p:sldId xmlns:r="http://schemas.openxmlformats.org/officeDocument/2006/relationships" id="259" r:id="R3ddfdae2daa54abe"/>
    <p:sldId xmlns:r="http://schemas.openxmlformats.org/officeDocument/2006/relationships" id="260" r:id="Rd0d6f3e14650443e"/>
    <p:sldId xmlns:r="http://schemas.openxmlformats.org/officeDocument/2006/relationships" id="261" r:id="Ra43984d4b81349f9"/>
    <p:sldId xmlns:r="http://schemas.openxmlformats.org/officeDocument/2006/relationships" id="262" r:id="Ref649281ec444979"/>
    <p:sldId xmlns:r="http://schemas.openxmlformats.org/officeDocument/2006/relationships" id="263" r:id="R074a7d600a7245f5"/>
    <p:sldId xmlns:r="http://schemas.openxmlformats.org/officeDocument/2006/relationships" id="264" r:id="R242598c66e704252"/>
    <p:sldId xmlns:r="http://schemas.openxmlformats.org/officeDocument/2006/relationships" id="265" r:id="R9f347257065a475a"/>
    <p:sldId xmlns:r="http://schemas.openxmlformats.org/officeDocument/2006/relationships" id="266" r:id="R70eac02cdef44507"/>
    <p:sldId xmlns:r="http://schemas.openxmlformats.org/officeDocument/2006/relationships" id="267" r:id="Raab8199d10144a17"/>
    <p:sldId xmlns:r="http://schemas.openxmlformats.org/officeDocument/2006/relationships" id="268" r:id="Rc0ee94c7073d4317"/>
    <p:sldId xmlns:r="http://schemas.openxmlformats.org/officeDocument/2006/relationships" id="269" r:id="Re0cf4a7df6934ed1"/>
    <p:sldId xmlns:r="http://schemas.openxmlformats.org/officeDocument/2006/relationships" id="270" r:id="Rba3bc63301ee4a54"/>
    <p:sldId xmlns:r="http://schemas.openxmlformats.org/officeDocument/2006/relationships" id="271" r:id="Ra9b2de8a67d9440b"/>
    <p:sldId xmlns:r="http://schemas.openxmlformats.org/officeDocument/2006/relationships" id="272" r:id="R06c3edc8013040ae"/>
  </p:sldIdLst>
  <p:sldSz cx="12191365" cy="68580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9e58e6610d40cb" /><Relationship Type="http://schemas.openxmlformats.org/officeDocument/2006/relationships/slideMaster" Target="/ppt/slideMasters/slideMaster1.xml" Id="Ra008efa2eac043e4" /><Relationship Type="http://schemas.openxmlformats.org/officeDocument/2006/relationships/notesMaster" Target="/ppt/notesMasters/notesMaster1.xml" Id="R19406d686d1e4c12" /><Relationship Type="http://schemas.openxmlformats.org/officeDocument/2006/relationships/presProps" Target="/ppt/presProps.xml" Id="R0efdf355f20b4c1f" /><Relationship Type="http://schemas.openxmlformats.org/officeDocument/2006/relationships/viewProps" Target="/ppt/viewProps.xml" Id="R8e0e14840cf14488" /><Relationship Type="http://schemas.openxmlformats.org/officeDocument/2006/relationships/tableStyles" Target="/ppt/tableStyles.xml" Id="R69c8f578dbcb46b5" /><Relationship Type="http://schemas.openxmlformats.org/officeDocument/2006/relationships/slide" Target="/ppt/slides/slide1.xml" Id="R0a7aff408ca2434b" /><Relationship Type="http://schemas.openxmlformats.org/officeDocument/2006/relationships/slide" Target="/ppt/slides/slide2.xml" Id="R02059724af4e4278" /><Relationship Type="http://schemas.openxmlformats.org/officeDocument/2006/relationships/slide" Target="/ppt/slides/slide3.xml" Id="Raedaf03c54f84fba" /><Relationship Type="http://schemas.openxmlformats.org/officeDocument/2006/relationships/slide" Target="/ppt/slides/slide4.xml" Id="R3ddfdae2daa54abe" /><Relationship Type="http://schemas.openxmlformats.org/officeDocument/2006/relationships/slide" Target="/ppt/slides/slide5.xml" Id="Rd0d6f3e14650443e" /><Relationship Type="http://schemas.openxmlformats.org/officeDocument/2006/relationships/slide" Target="/ppt/slides/slide6.xml" Id="Ra43984d4b81349f9" /><Relationship Type="http://schemas.openxmlformats.org/officeDocument/2006/relationships/slide" Target="/ppt/slides/slide7.xml" Id="Ref649281ec444979" /><Relationship Type="http://schemas.openxmlformats.org/officeDocument/2006/relationships/slide" Target="/ppt/slides/slide8.xml" Id="R074a7d600a7245f5" /><Relationship Type="http://schemas.openxmlformats.org/officeDocument/2006/relationships/slide" Target="/ppt/slides/slide9.xml" Id="R242598c66e704252" /><Relationship Type="http://schemas.openxmlformats.org/officeDocument/2006/relationships/slide" Target="/ppt/slides/slide10.xml" Id="R9f347257065a475a" /><Relationship Type="http://schemas.openxmlformats.org/officeDocument/2006/relationships/slide" Target="/ppt/slides/slide11.xml" Id="R70eac02cdef44507" /><Relationship Type="http://schemas.openxmlformats.org/officeDocument/2006/relationships/slide" Target="/ppt/slides/slide12.xml" Id="Raab8199d10144a17" /><Relationship Type="http://schemas.openxmlformats.org/officeDocument/2006/relationships/slide" Target="/ppt/slides/slide13.xml" Id="Rc0ee94c7073d4317" /><Relationship Type="http://schemas.openxmlformats.org/officeDocument/2006/relationships/slide" Target="/ppt/slides/slide14.xml" Id="Re0cf4a7df6934ed1" /><Relationship Type="http://schemas.openxmlformats.org/officeDocument/2006/relationships/slide" Target="/ppt/slides/slide15.xml" Id="Rba3bc63301ee4a54" /><Relationship Type="http://schemas.openxmlformats.org/officeDocument/2006/relationships/slide" Target="/ppt/slides/slide16.xml" Id="Ra9b2de8a67d9440b" /><Relationship Type="http://schemas.openxmlformats.org/officeDocument/2006/relationships/slide" Target="/ppt/slides/slide17.xml" Id="R06c3edc8013040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7655483a9de459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06c13c9cff74a33" /><Relationship Type="http://schemas.openxmlformats.org/officeDocument/2006/relationships/notesMaster" Target="/ppt/notesMasters/notesMaster1.xml" Id="R7c7d09eba035492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96c0411841c4034" /><Relationship Type="http://schemas.openxmlformats.org/officeDocument/2006/relationships/notesMaster" Target="/ppt/notesMasters/notesMaster1.xml" Id="R72fafacfc0da4e6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0428f92176f4146" /><Relationship Type="http://schemas.openxmlformats.org/officeDocument/2006/relationships/notesMaster" Target="/ppt/notesMasters/notesMaster1.xml" Id="R9737c2ca18a740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c2fb798d99c466a" /><Relationship Type="http://schemas.openxmlformats.org/officeDocument/2006/relationships/notesMaster" Target="/ppt/notesMasters/notesMaster1.xml" Id="R75eccf5016ac401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f4ba869eeaa4092" /><Relationship Type="http://schemas.openxmlformats.org/officeDocument/2006/relationships/notesMaster" Target="/ppt/notesMasters/notesMaster1.xml" Id="Rae62fd174a124f8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022da6772c944d8" /><Relationship Type="http://schemas.openxmlformats.org/officeDocument/2006/relationships/notesMaster" Target="/ppt/notesMasters/notesMaster1.xml" Id="R02e9e6d9f9ea4c6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645a2a19895449a" /><Relationship Type="http://schemas.openxmlformats.org/officeDocument/2006/relationships/notesMaster" Target="/ppt/notesMasters/notesMaster1.xml" Id="R8811cf841d0e466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328f3917dff4b26" /><Relationship Type="http://schemas.openxmlformats.org/officeDocument/2006/relationships/notesMaster" Target="/ppt/notesMasters/notesMaster1.xml" Id="Rbdd87b692765432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ffc71e861b8456f" /><Relationship Type="http://schemas.openxmlformats.org/officeDocument/2006/relationships/notesMaster" Target="/ppt/notesMasters/notesMaster1.xml" Id="R48d31b012c444d1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369852e6e874d2f" /><Relationship Type="http://schemas.openxmlformats.org/officeDocument/2006/relationships/notesMaster" Target="/ppt/notesMasters/notesMaster1.xml" Id="R16672aee6ed546b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f48a616b2094692" /><Relationship Type="http://schemas.openxmlformats.org/officeDocument/2006/relationships/notesMaster" Target="/ppt/notesMasters/notesMaster1.xml" Id="Rf7b9ce61674945c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0c3fa2b95a24ed9" /><Relationship Type="http://schemas.openxmlformats.org/officeDocument/2006/relationships/notesMaster" Target="/ppt/notesMasters/notesMaster1.xml" Id="Rf0e042152a4c40c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0d4a18cf0424d1e" /><Relationship Type="http://schemas.openxmlformats.org/officeDocument/2006/relationships/notesMaster" Target="/ppt/notesMasters/notesMaster1.xml" Id="Rff9b7aeaf81f497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25eb924939d4366" /><Relationship Type="http://schemas.openxmlformats.org/officeDocument/2006/relationships/notesMaster" Target="/ppt/notesMasters/notesMaster1.xml" Id="Rc909dc48fabc4c7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9447333a57b4af0" /><Relationship Type="http://schemas.openxmlformats.org/officeDocument/2006/relationships/notesMaster" Target="/ppt/notesMasters/notesMaster1.xml" Id="R849a64cf9db74d3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8244bb873c24440" /><Relationship Type="http://schemas.openxmlformats.org/officeDocument/2006/relationships/notesMaster" Target="/ppt/notesMasters/notesMaster1.xml" Id="R975c3465666c41d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7e070728ee440fa" /><Relationship Type="http://schemas.openxmlformats.org/officeDocument/2006/relationships/notesMaster" Target="/ppt/notesMasters/notesMaster1.xml" Id="Rb5678ca18e2240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bfbec2706e4a32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813411ea2641d2" /><Relationship Type="http://schemas.openxmlformats.org/officeDocument/2006/relationships/slideLayout" Target="/ppt/slideLayouts/slideLayout1.xml" Id="Refc896d2554a481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c896d2554a4816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1b37e1a8f74214" /><Relationship Type="http://schemas.openxmlformats.org/officeDocument/2006/relationships/image" Target="/ppt/media/image.png" Id="Rb1d12cb9976848f1" /><Relationship Type="http://schemas.openxmlformats.org/officeDocument/2006/relationships/notesSlide" Target="/ppt/notesSlides/notesSlide1.xml" Id="Rcc0da926e8fa46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a0245e4a7e4e01" /><Relationship Type="http://schemas.openxmlformats.org/officeDocument/2006/relationships/notesSlide" Target="/ppt/notesSlides/notesSlide2.xml" Id="R3d6134981bfc4f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278b473a10400d" /><Relationship Type="http://schemas.openxmlformats.org/officeDocument/2006/relationships/notesSlide" Target="/ppt/notesSlides/notesSlide3.xml" Id="Rd7006ce21ac641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227f6e811e4435" /><Relationship Type="http://schemas.openxmlformats.org/officeDocument/2006/relationships/notesSlide" Target="/ppt/notesSlides/notesSlide4.xml" Id="R2d6306e214524f8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b1a083df83471f" /><Relationship Type="http://schemas.openxmlformats.org/officeDocument/2006/relationships/notesSlide" Target="/ppt/notesSlides/notesSlide5.xml" Id="Rc2851a458fc5424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67ab67d0a2439f" /><Relationship Type="http://schemas.openxmlformats.org/officeDocument/2006/relationships/notesSlide" Target="/ppt/notesSlides/notesSlide6.xml" Id="Rb0d7e4ca11c44c7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3391d7b91744df" /><Relationship Type="http://schemas.openxmlformats.org/officeDocument/2006/relationships/notesSlide" Target="/ppt/notesSlides/notesSlide7.xml" Id="R2de65d8ed234487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25974afa144fd2" /><Relationship Type="http://schemas.openxmlformats.org/officeDocument/2006/relationships/notesSlide" Target="/ppt/notesSlides/notesSlide8.xml" Id="Rf6daa685256448f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9fb59e66fc401f" /><Relationship Type="http://schemas.openxmlformats.org/officeDocument/2006/relationships/notesSlide" Target="/ppt/notesSlides/notesSlide9.xml" Id="R1905da43249f4fe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083fd436274fc9" /><Relationship Type="http://schemas.openxmlformats.org/officeDocument/2006/relationships/image" Target="/ppt/media/image2.png" Id="R65dc955fc9ad4e4e" /><Relationship Type="http://schemas.openxmlformats.org/officeDocument/2006/relationships/notesSlide" Target="/ppt/notesSlides/notesSlide10.xml" Id="Rf6beb8ec24c5461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767e5ccbfd4a41" /><Relationship Type="http://schemas.openxmlformats.org/officeDocument/2006/relationships/image" Target="/ppt/media/image3.png" Id="Rad7c575ee78e473e" /><Relationship Type="http://schemas.openxmlformats.org/officeDocument/2006/relationships/notesSlide" Target="/ppt/notesSlides/notesSlide11.xml" Id="Rcc3041c4c58045d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5f3e35d6a442b5" /><Relationship Type="http://schemas.openxmlformats.org/officeDocument/2006/relationships/image" Target="/ppt/media/image4.png" Id="Rbd6ca09da0454f4e" /><Relationship Type="http://schemas.openxmlformats.org/officeDocument/2006/relationships/notesSlide" Target="/ppt/notesSlides/notesSlide12.xml" Id="Raa54aaae76ff4aa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1cdb5a2f1a4ea5" /><Relationship Type="http://schemas.openxmlformats.org/officeDocument/2006/relationships/image" Target="/ppt/media/image5.png" Id="Rcb133aff31ac4878" /><Relationship Type="http://schemas.openxmlformats.org/officeDocument/2006/relationships/image" Target="/ppt/media/image6.png" Id="R5bbdf904ed1d4194" /><Relationship Type="http://schemas.openxmlformats.org/officeDocument/2006/relationships/notesSlide" Target="/ppt/notesSlides/notesSlide13.xml" Id="R48136fd81cc7403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3c758f65b24218" /><Relationship Type="http://schemas.openxmlformats.org/officeDocument/2006/relationships/image" Target="/ppt/media/image7.png" Id="R656aab5f517b4f69" /><Relationship Type="http://schemas.openxmlformats.org/officeDocument/2006/relationships/notesSlide" Target="/ppt/notesSlides/notesSlide14.xml" Id="R7005a25815c94b6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000d7ef92e415b" /><Relationship Type="http://schemas.openxmlformats.org/officeDocument/2006/relationships/notesSlide" Target="/ppt/notesSlides/notesSlide15.xml" Id="Rd870d048e94844c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05c65ab5a94d82" /><Relationship Type="http://schemas.openxmlformats.org/officeDocument/2006/relationships/notesSlide" Target="/ppt/notesSlides/notesSlide16.xml" Id="R2d3fdf3e4556428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84b89572b749c7" /><Relationship Type="http://schemas.openxmlformats.org/officeDocument/2006/relationships/notesSlide" Target="/ppt/notesSlides/notesSlide17.xml" Id="R5768e863e2ea453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C25EC1C-1D6F-48A0-ABE6-817B43BAF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-1737360"/>
            <a:ext cx="6766560" cy="67665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B33">
              <a:alpha val="0"/>
            </a:srgbClr>
          </a:solidFill>
          <a:ln xmlns:a="http://schemas.openxmlformats.org/drawingml/2006/main" w="12700">
            <a:solidFill>
              <a:srgbClr val="2C4A79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3E3744F-E91C-477A-90D3-322BCF2B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3108960"/>
            <a:ext cx="4937760" cy="4937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B33">
              <a:alpha val="0"/>
            </a:srgbClr>
          </a:solidFill>
          <a:ln xmlns:a="http://schemas.openxmlformats.org/drawingml/2006/main" w="12700">
            <a:solidFill>
              <a:srgbClr val="24405F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35CB0B5-A8D2-4446-BFB2-AF315F8E2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0"/>
            <a:ext cx="10973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95C"/>
          </a:solidFill>
          <a:ln xmlns:a="http://schemas.openxmlformats.org/drawingml/2006/main" w="12700">
            <a:solidFill>
              <a:srgbClr val="21395C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DC4B3A5F-8126-498A-9F03-492600FB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777240"/>
            <a:ext cx="475488" cy="411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7"/>
          </a:solidFill>
          <a:ln xmlns:a="http://schemas.openxmlformats.org/drawingml/2006/main" w="12700">
            <a:solidFill>
              <a:srgbClr val="6EE7D7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D54C4D0-2DFF-4E97-9FFE-B894CE4CF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932688"/>
            <a:ext cx="6766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 spc="240">
                <a:solidFill>
                  <a:srgbClr val="8FB4FF"/>
                </a:solidFill>
                <a:latin typeface="Segoe UI"/>
                <a:ea typeface="Segoe UI"/>
                <a:cs typeface="Segoe UI"/>
              </a:rPr>
              <a:t>CAREERBRIDGE   /   FUTURE SKILLS</a:t>
            </a:r>
            <a:endParaRPr sz="9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A59114F-65BC-480C-B776-D09C07E22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74520"/>
            <a:ext cx="7223760" cy="2606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2000"/>
              </a:lnSpc>
              <a:buNone/>
            </a:pPr>
            <a:r>
              <a:rPr sz="45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Make Your Next</a:t>
            </a:r>
            <a:endParaRPr sz="4500"/>
          </a:p>
          <a:p xmlns:a="http://schemas.openxmlformats.org/drawingml/2006/main">
            <a:pPr marL="0" indent="0">
              <a:lnSpc>
                <a:spcPct val="102000"/>
              </a:lnSpc>
              <a:buNone/>
            </a:pPr>
            <a:r>
              <a:rPr sz="45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Learning Decision</a:t>
            </a:r>
            <a:endParaRPr sz="4500"/>
          </a:p>
          <a:p xmlns:a="http://schemas.openxmlformats.org/drawingml/2006/main">
            <a:pPr marL="0" indent="0">
              <a:lnSpc>
                <a:spcPct val="102000"/>
              </a:lnSpc>
              <a:buNone/>
            </a:pPr>
            <a:r>
              <a:rPr sz="4500" b="1">
                <a:solidFill>
                  <a:srgbClr val="6EE7D7"/>
                </a:solidFill>
                <a:latin typeface="Segoe UI"/>
                <a:ea typeface="Segoe UI"/>
                <a:cs typeface="Segoe UI"/>
              </a:rPr>
              <a:t>with evidence.</a:t>
            </a:r>
            <a:endParaRPr sz="45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0339940-46BD-49BB-871D-7D7B5689C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498848"/>
            <a:ext cx="63093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50">
                <a:solidFill>
                  <a:srgbClr val="C6D2E4"/>
                </a:solidFill>
                <a:latin typeface="Segoe UI Light"/>
                <a:ea typeface="Segoe UI Light"/>
                <a:cs typeface="Segoe UI Light"/>
              </a:rPr>
              <a:t>Turn vague career anxiety into an explainable,</a:t>
            </a:r>
            <a:endParaRPr sz="1450"/>
          </a:p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50">
                <a:solidFill>
                  <a:srgbClr val="C6D2E4"/>
                </a:solidFill>
                <a:latin typeface="Segoe UI Light"/>
                <a:ea typeface="Segoe UI Light"/>
                <a:cs typeface="Segoe UI Light"/>
              </a:rPr>
              <a:t>executable next step.</a:t>
            </a:r>
            <a:endParaRPr sz="14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071A7CFA-4EA6-402C-8061-BE6A52F02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504688"/>
            <a:ext cx="1737360" cy="1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537A"/>
          </a:solidFill>
          <a:ln xmlns:a="http://schemas.openxmlformats.org/drawingml/2006/main" w="12700">
            <a:solidFill>
              <a:srgbClr val="3A537A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99A83BD-CECC-45E9-B65E-DF64B78C7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669280"/>
            <a:ext cx="4937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FB0C8"/>
                </a:solidFill>
                <a:latin typeface="Segoe UI"/>
                <a:ea typeface="Segoe UI"/>
                <a:cs typeface="Segoe UI"/>
              </a:rPr>
              <a:t>https://codecatalyst-careerbridge-ai.onrender.com/</a:t>
            </a:r>
            <a:endParaRPr sz="10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784ACE5-51DA-4A67-844E-5D984B024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961888"/>
            <a:ext cx="4937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220">
                <a:solidFill>
                  <a:srgbClr val="5E7699"/>
                </a:solidFill>
                <a:latin typeface="Segoe UI"/>
                <a:ea typeface="Segoe UI"/>
                <a:cs typeface="Segoe UI"/>
              </a:rPr>
              <a:t>PRODUCT DEMO</a:t>
            </a:r>
            <a:endParaRPr sz="850"/>
          </a:p>
        </p:txBody>
      </p:sp>
      <p:sp>
        <p:nvSpPr>
          <p:cNvPr id="13" name="project-team-accent">
            <a:extLst xmlns:a="http://schemas.openxmlformats.org/drawingml/2006/main">
              <a:ext uri="{FF2B5EF4-FFF2-40B4-BE49-F238E27FC236}">
                <a16:creationId xmlns:a16="http://schemas.microsoft.com/office/drawing/2014/main" id="{D6B8E6C4-485B-4473-AE0A-5A5011127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79070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E0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roject-label">
            <a:extLst xmlns:a="http://schemas.openxmlformats.org/drawingml/2006/main">
              <a:ext uri="{FF2B5EF4-FFF2-40B4-BE49-F238E27FC236}">
                <a16:creationId xmlns:a16="http://schemas.microsoft.com/office/drawing/2014/main" id="{6AB3180A-E1D2-4441-9031-7802D26BD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002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8FB4FF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975" b="1">
                <a:solidFill>
                  <a:srgbClr val="8FB4FF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975" b="1">
                <a:solidFill>
                  <a:srgbClr val="8FB4FF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975" b="1">
                <a:solidFill>
                  <a:srgbClr val="8FB4FF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975" b="1">
                <a:solidFill>
                  <a:srgbClr val="8FB4FF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975" b="1">
                <a:solidFill>
                  <a:srgbClr val="8FB4FF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975" b="1">
                <a:solidFill>
                  <a:srgbClr val="8FB4FF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975" b="1">
                <a:solidFill>
                  <a:srgbClr val="8FB4FF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975" b="1">
                <a:solidFill>
                  <a:srgbClr val="8FB4FF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975" b="1">
                <a:solidFill>
                  <a:srgbClr val="8FB4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8FB4FF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8FB4FF"/>
                </a:solidFill>
                <a:latin typeface="Segoe UI"/>
                <a:ea typeface="Segoe UI"/>
                <a:cs typeface="Segoe UI"/>
              </a:rPr>
              <a:t>PROJECT</a:t>
            </a:r>
          </a:p>
        </p:txBody>
      </p:sp>
      <p:sp>
        <p:nvSpPr>
          <p:cNvPr id="15" name="project-name">
            <a:extLst xmlns:a="http://schemas.openxmlformats.org/drawingml/2006/main">
              <a:ext uri="{FF2B5EF4-FFF2-40B4-BE49-F238E27FC236}">
                <a16:creationId xmlns:a16="http://schemas.microsoft.com/office/drawing/2014/main" id="{8EBC2927-F752-4354-ABC1-A28A8DB92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25742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20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20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20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20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20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20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20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20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20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CareerBridge AI</a:t>
            </a:r>
          </a:p>
        </p:txBody>
      </p:sp>
      <p:sp>
        <p:nvSpPr>
          <p:cNvPr id="16" name="project-team-divider">
            <a:extLst xmlns:a="http://schemas.openxmlformats.org/drawingml/2006/main">
              <a:ext uri="{FF2B5EF4-FFF2-40B4-BE49-F238E27FC236}">
                <a16:creationId xmlns:a16="http://schemas.microsoft.com/office/drawing/2014/main" id="{7377919B-7840-45D8-8681-A44049F41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76550"/>
            <a:ext cx="2714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7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am-label">
            <a:extLst xmlns:a="http://schemas.openxmlformats.org/drawingml/2006/main">
              <a:ext uri="{FF2B5EF4-FFF2-40B4-BE49-F238E27FC236}">
                <a16:creationId xmlns:a16="http://schemas.microsoft.com/office/drawing/2014/main" id="{45D0E6B0-59ED-4A33-9D5B-B27B5D8A3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480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8FB4FF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975" b="1">
                <a:solidFill>
                  <a:srgbClr val="8FB4FF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975" b="1">
                <a:solidFill>
                  <a:srgbClr val="8FB4FF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975" b="1">
                <a:solidFill>
                  <a:srgbClr val="8FB4FF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975" b="1">
                <a:solidFill>
                  <a:srgbClr val="8FB4FF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975" b="1">
                <a:solidFill>
                  <a:srgbClr val="8FB4FF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975" b="1">
                <a:solidFill>
                  <a:srgbClr val="8FB4FF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975" b="1">
                <a:solidFill>
                  <a:srgbClr val="8FB4FF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975" b="1">
                <a:solidFill>
                  <a:srgbClr val="8FB4FF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975" b="1">
                <a:solidFill>
                  <a:srgbClr val="8FB4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8FB4FF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8FB4FF"/>
                </a:solidFill>
                <a:latin typeface="Segoe UI"/>
                <a:ea typeface="Segoe UI"/>
                <a:cs typeface="Segoe UI"/>
              </a:rPr>
              <a:t>TEAM</a:t>
            </a:r>
          </a:p>
        </p:txBody>
      </p:sp>
      <p:sp>
        <p:nvSpPr>
          <p:cNvPr id="18" name="team-name">
            <a:extLst xmlns:a="http://schemas.openxmlformats.org/drawingml/2006/main">
              <a:ext uri="{FF2B5EF4-FFF2-40B4-BE49-F238E27FC236}">
                <a16:creationId xmlns:a16="http://schemas.microsoft.com/office/drawing/2014/main" id="{BF223727-2314-46D6-AC80-8389B5263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051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20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20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20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20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20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20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20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20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20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CodeCatalyst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149E1B-82D3-4423-95AE-F9FF683E2F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d12cb9976848f1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48700" y="4000500"/>
            <a:ext cx="3190875" cy="1613535"/>
          </a:xfrm>
          <a:prstGeom xmlns:a="http://schemas.openxmlformats.org/drawingml/2006/main" prst="roundRect">
            <a:avLst>
              <a:gd name="adj" fmla="val 3542"/>
            </a:avLst>
          </a:prstGeom>
        </p:spPr>
      </p:pic>
    </p:spTree>
    <p:extLst>
      <p:ext uri="{BB962C8B-B14F-4D97-AF65-F5344CB8AC3E}">
        <p14:creationId xmlns:p14="http://schemas.microsoft.com/office/powerpoint/2010/main" val="4951674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B642CEB-9499-4F1B-9F74-BAACC8C25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66928"/>
            <a:ext cx="310896" cy="411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B4FF"/>
          </a:solidFill>
          <a:ln xmlns:a="http://schemas.openxmlformats.org/drawingml/2006/main" w="12700">
            <a:solidFill>
              <a:srgbClr val="8FB4FF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A45F087-01AD-4DF3-B1BD-8FBAE50D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38912"/>
            <a:ext cx="8686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 spc="220">
                <a:solidFill>
                  <a:srgbClr val="8FB4FF"/>
                </a:solidFill>
                <a:latin typeface="Segoe UI"/>
                <a:ea typeface="Segoe UI"/>
                <a:cs typeface="Segoe UI"/>
              </a:rPr>
              <a:t>CONTENTS</a:t>
            </a:r>
            <a:endParaRPr sz="9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ED4DF51-3CC0-4398-A4D9-B9BBF67C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841248"/>
            <a:ext cx="10607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The plan for today</a:t>
            </a:r>
            <a:endParaRPr sz="27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9E97466-16CE-469E-A458-7D6DE43A1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56232"/>
            <a:ext cx="65836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100">
                <a:solidFill>
                  <a:srgbClr val="4E6C99"/>
                </a:solidFill>
                <a:latin typeface="Segoe UI"/>
                <a:ea typeface="Segoe UI"/>
                <a:cs typeface="Segoe UI"/>
              </a:rPr>
              <a:t>01</a:t>
            </a:r>
            <a:endParaRPr sz="13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EE1354F-3905-46A8-AFDB-F544528F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1828800"/>
            <a:ext cx="41148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The Problem</a:t>
            </a:r>
            <a:endParaRPr sz="16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EBE3E59-19D8-4B6C-B94F-BB9522559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2194560"/>
            <a:ext cx="42062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94A6BF"/>
                </a:solidFill>
                <a:latin typeface="Segoe UI"/>
                <a:ea typeface="Segoe UI"/>
                <a:cs typeface="Segoe UI"/>
              </a:rPr>
              <a:t>Why career decisions keep stalling</a:t>
            </a:r>
            <a:endParaRPr sz="10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560E172B-2A40-4934-B6DC-37A3BC51F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578608"/>
            <a:ext cx="493776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A5C"/>
          </a:solidFill>
          <a:ln xmlns:a="http://schemas.openxmlformats.org/drawingml/2006/main" w="12700">
            <a:solidFill>
              <a:srgbClr val="233A5C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CE2294F-BE99-4BFB-A08F-86C6D42A4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856232"/>
            <a:ext cx="65836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100">
                <a:solidFill>
                  <a:srgbClr val="4E6C99"/>
                </a:solidFill>
                <a:latin typeface="Segoe UI"/>
                <a:ea typeface="Segoe UI"/>
                <a:cs typeface="Segoe UI"/>
              </a:rPr>
              <a:t>02</a:t>
            </a:r>
            <a:endParaRPr sz="13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FF4AA4A-6952-48B6-B156-EB97AE712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448" y="1828800"/>
            <a:ext cx="41148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The Solution</a:t>
            </a:r>
            <a:endParaRPr sz="16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48144EB-B251-430E-ABE8-E87EA5E80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448" y="2194560"/>
            <a:ext cx="42062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94A6BF"/>
                </a:solidFill>
                <a:latin typeface="Segoe UI"/>
                <a:ea typeface="Segoe UI"/>
                <a:cs typeface="Segoe UI"/>
              </a:rPr>
              <a:t>One-line positioning and core promise</a:t>
            </a:r>
            <a:endParaRPr sz="10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696258F6-87F6-4612-BF51-411BEADAD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578608"/>
            <a:ext cx="493776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A5C"/>
          </a:solidFill>
          <a:ln xmlns:a="http://schemas.openxmlformats.org/drawingml/2006/main" w="12700">
            <a:solidFill>
              <a:srgbClr val="233A5C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8CDB830-F689-4DE7-9C6B-2DBCAB3D4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752344"/>
            <a:ext cx="65836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100">
                <a:solidFill>
                  <a:srgbClr val="4E6C99"/>
                </a:solidFill>
                <a:latin typeface="Segoe UI"/>
                <a:ea typeface="Segoe UI"/>
                <a:cs typeface="Segoe UI"/>
              </a:rPr>
              <a:t>03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AB34546-E552-46E8-821D-7E240D10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2724912"/>
            <a:ext cx="41148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How It Works</a:t>
            </a:r>
            <a:endParaRPr sz="16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98111B0F-A7EA-4330-BC92-A04DD12A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3090672"/>
            <a:ext cx="42062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94A6BF"/>
                </a:solidFill>
                <a:latin typeface="Segoe UI"/>
                <a:ea typeface="Segoe UI"/>
                <a:cs typeface="Segoe UI"/>
              </a:rPr>
              <a:t>Five steps that close one loop</a:t>
            </a:r>
            <a:endParaRPr sz="10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8774937-BEF3-4E82-AC97-CE2BFB5F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474720"/>
            <a:ext cx="493776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A5C"/>
          </a:solidFill>
          <a:ln xmlns:a="http://schemas.openxmlformats.org/drawingml/2006/main" w="12700">
            <a:solidFill>
              <a:srgbClr val="233A5C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4C5D27E-5FD7-4FFE-85B4-07B1E2B1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752344"/>
            <a:ext cx="65836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100">
                <a:solidFill>
                  <a:srgbClr val="4E6C99"/>
                </a:solidFill>
                <a:latin typeface="Segoe UI"/>
                <a:ea typeface="Segoe UI"/>
                <a:cs typeface="Segoe UI"/>
              </a:rPr>
              <a:t>04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1B96078-F797-450E-A43B-4E59BDEB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448" y="2724912"/>
            <a:ext cx="41148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Product Walkthrough</a:t>
            </a:r>
            <a:endParaRPr sz="16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E32B6BC5-E2B4-49AE-9715-C263A9D3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448" y="3090672"/>
            <a:ext cx="42062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94A6BF"/>
                </a:solidFill>
                <a:latin typeface="Segoe UI"/>
                <a:ea typeface="Segoe UI"/>
                <a:cs typeface="Segoe UI"/>
              </a:rPr>
              <a:t>The live product, screen by screen</a:t>
            </a:r>
            <a:endParaRPr sz="10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15BEEF81-1520-4D4F-94E1-66366F069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474720"/>
            <a:ext cx="493776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A5C"/>
          </a:solidFill>
          <a:ln xmlns:a="http://schemas.openxmlformats.org/drawingml/2006/main" w="12700">
            <a:solidFill>
              <a:srgbClr val="233A5C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CAE892B5-EAA5-4934-B0B6-EAD4F196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648456"/>
            <a:ext cx="65836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100">
                <a:solidFill>
                  <a:srgbClr val="4E6C99"/>
                </a:solidFill>
                <a:latin typeface="Segoe UI"/>
                <a:ea typeface="Segoe UI"/>
                <a:cs typeface="Segoe UI"/>
              </a:rPr>
              <a:t>05</a:t>
            </a:r>
            <a:endParaRPr sz="13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66DA65A2-ABC4-46DF-9377-64D2761ED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3621024"/>
            <a:ext cx="41148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Trust by Design</a:t>
            </a:r>
            <a:endParaRPr sz="16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0D589E6C-F67E-4845-B64A-2103BF47D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3986784"/>
            <a:ext cx="42062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94A6BF"/>
                </a:solidFill>
                <a:latin typeface="Segoe UI"/>
                <a:ea typeface="Segoe UI"/>
                <a:cs typeface="Segoe UI"/>
              </a:rPr>
              <a:t>Transparent scoring, traceable sources</a:t>
            </a:r>
            <a:endParaRPr sz="10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09B978C0-C7D6-46A4-A772-7AA2600A0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370832"/>
            <a:ext cx="493776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A5C"/>
          </a:solidFill>
          <a:ln xmlns:a="http://schemas.openxmlformats.org/drawingml/2006/main" w="12700">
            <a:solidFill>
              <a:srgbClr val="233A5C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D13379D4-F80A-4A3C-8EFE-C862848E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648456"/>
            <a:ext cx="65836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100">
                <a:solidFill>
                  <a:srgbClr val="4E6C99"/>
                </a:solidFill>
                <a:latin typeface="Segoe UI"/>
                <a:ea typeface="Segoe UI"/>
                <a:cs typeface="Segoe UI"/>
              </a:rPr>
              <a:t>06</a:t>
            </a:r>
            <a:endParaRPr sz="13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471B42F5-7477-4C4B-9444-3C19E0969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448" y="3621024"/>
            <a:ext cx="41148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Value &amp; Impact</a:t>
            </a:r>
            <a:endParaRPr sz="16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2EB1C28E-09E1-409D-BAC0-378CE2E7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448" y="3986784"/>
            <a:ext cx="42062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94A6BF"/>
                </a:solidFill>
                <a:latin typeface="Segoe UI"/>
                <a:ea typeface="Segoe UI"/>
                <a:cs typeface="Segoe UI"/>
              </a:rPr>
              <a:t>What three audiences actually gain</a:t>
            </a:r>
            <a:endParaRPr sz="105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BB96F672-4120-4CCB-ABEF-28D2B99BD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370832"/>
            <a:ext cx="493776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A5C"/>
          </a:solidFill>
          <a:ln xmlns:a="http://schemas.openxmlformats.org/drawingml/2006/main" w="12700">
            <a:solidFill>
              <a:srgbClr val="233A5C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8974208A-2BB0-4DEF-B38F-16BEA53E6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544568"/>
            <a:ext cx="65836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100">
                <a:solidFill>
                  <a:srgbClr val="4E6C99"/>
                </a:solidFill>
                <a:latin typeface="Segoe UI"/>
                <a:ea typeface="Segoe UI"/>
                <a:cs typeface="Segoe UI"/>
              </a:rPr>
              <a:t>07</a:t>
            </a:r>
            <a:endParaRPr sz="13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03F52AA3-6B89-4215-989E-D0E60E8B8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4517136"/>
            <a:ext cx="41148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Boundaries</a:t>
            </a:r>
            <a:endParaRPr sz="16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F3679735-A9E2-4E29-A037-EA5ABEBD5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4882896"/>
            <a:ext cx="42062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94A6BF"/>
                </a:solidFill>
                <a:latin typeface="Segoe UI"/>
                <a:ea typeface="Segoe UI"/>
                <a:cs typeface="Segoe UI"/>
              </a:rPr>
              <a:t>The things we refuse to do</a:t>
            </a:r>
            <a:endParaRPr sz="105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950701EF-3D19-4C2C-95CD-224448F1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266944"/>
            <a:ext cx="493776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A5C"/>
          </a:solidFill>
          <a:ln xmlns:a="http://schemas.openxmlformats.org/drawingml/2006/main" w="12700">
            <a:solidFill>
              <a:srgbClr val="233A5C"/>
            </a:solidFill>
            <a:prstDash val="solid"/>
          </a:ln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6D9E03B9-C268-489C-B377-48EB0B94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6345936"/>
            <a:ext cx="8686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64789A"/>
                </a:solidFill>
                <a:latin typeface="Segoe UI"/>
                <a:ea typeface="Segoe UI"/>
                <a:cs typeface="Segoe UI"/>
              </a:rPr>
              <a:t>Source: CareerBridge  ·  careerbridge-ai-9whl.onrender.com</a:t>
            </a:r>
            <a:endParaRPr sz="80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B2979698-50F4-4DE1-B07E-F7C9C92FE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345936"/>
            <a:ext cx="71323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64789A"/>
                </a:solidFill>
                <a:latin typeface="Segoe UI"/>
                <a:ea typeface="Segoe UI"/>
                <a:cs typeface="Segoe UI"/>
              </a:rPr>
              <a:t>02</a:t>
            </a:r>
            <a:endParaRPr sz="850"/>
          </a:p>
        </p:txBody>
      </p:sp>
    </p:spTree>
    <p:extLst>
      <p:ext uri="{BB962C8B-B14F-4D97-AF65-F5344CB8AC3E}">
        <p14:creationId xmlns:p14="http://schemas.microsoft.com/office/powerpoint/2010/main" val="9058437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EE4B653-3E07-4E0F-AAD5-B8FE83332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66928"/>
            <a:ext cx="310896" cy="411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12700">
            <a:solidFill>
              <a:srgbClr val="2F6BFF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E15365E-A727-4C1A-BC7D-A205B388D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38912"/>
            <a:ext cx="8686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 spc="220">
                <a:solidFill>
                  <a:srgbClr val="2F6BFF"/>
                </a:solidFill>
                <a:latin typeface="Segoe UI"/>
                <a:ea typeface="Segoe UI"/>
                <a:cs typeface="Segoe UI"/>
              </a:rPr>
              <a:t>01   THE PROBLEM</a:t>
            </a:r>
            <a:endParaRPr sz="9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2DD1F00-0128-42F6-816C-D30820279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841248"/>
            <a:ext cx="10607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4213A"/>
                </a:solidFill>
                <a:latin typeface="Segoe UI"/>
                <a:ea typeface="Segoe UI"/>
                <a:cs typeface="Segoe UI"/>
              </a:rPr>
              <a:t>Why learning investment becomes a gamble</a:t>
            </a:r>
            <a:endParaRPr sz="27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2FD4494-3572-4622-AC3D-3DE744CF4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74520"/>
            <a:ext cx="3383280" cy="265176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9F2"/>
            </a:solidFill>
            <a:prstDash val="solid"/>
          </a:ln>
          <a:effectLst xmlns:a="http://schemas.openxmlformats.org/drawingml/2006/main">
            <a:outerShdw blurRad="152400" dist="19050" dir="5400000" algn="bl" rotWithShape="0">
              <a:srgbClr val="0B1B33">
                <a:alpha val="5000"/>
              </a:srgbClr>
            </a:outerShdw>
          </a:effectLst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485619F-F416-4CE5-B46C-5C9E431C0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" y="2139696"/>
            <a:ext cx="256032" cy="25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12700">
            <a:solidFill>
              <a:srgbClr val="2F6BFF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FEF70D3-7C8B-42AF-BE08-BFA441DE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" y="2240280"/>
            <a:ext cx="7315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140">
                <a:solidFill>
                  <a:srgbClr val="2F6BFF"/>
                </a:solidFill>
                <a:latin typeface="Segoe UI"/>
                <a:ea typeface="Segoe UI"/>
                <a:cs typeface="Segoe UI"/>
              </a:rPr>
              <a:t>01</a:t>
            </a:r>
            <a:endParaRPr sz="10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EFFF60D-E8A9-4D0E-94C0-A8B662D01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" y="2615184"/>
            <a:ext cx="278892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550" b="1">
                <a:solidFill>
                  <a:srgbClr val="14213A"/>
                </a:solidFill>
                <a:latin typeface="Segoe UI"/>
                <a:ea typeface="Segoe UI"/>
                <a:cs typeface="Segoe UI"/>
              </a:rPr>
              <a:t>Fragmented information</a:t>
            </a:r>
            <a:endParaRPr sz="15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F41B4CB-E395-4EE4-BFAB-A102799B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" y="3310128"/>
            <a:ext cx="2761488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32000"/>
              </a:lnSpc>
              <a:buNone/>
            </a:pPr>
            <a:r>
              <a:rPr sz="1050">
                <a:solidFill>
                  <a:srgbClr val="46536B"/>
                </a:solidFill>
                <a:latin typeface="Segoe UI"/>
                <a:ea typeface="Segoe UI"/>
                <a:cs typeface="Segoe UI"/>
              </a:rPr>
              <a:t>Job requirements are scattered across job boards, course pages and forums — each with its own vocabulary, none of them comparable on one ruler.</a:t>
            </a:r>
            <a:endParaRPr sz="10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6EC9D62-A860-4454-8184-3757564D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874520"/>
            <a:ext cx="3383280" cy="265176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9F2"/>
            </a:solidFill>
            <a:prstDash val="solid"/>
          </a:ln>
          <a:effectLst xmlns:a="http://schemas.openxmlformats.org/drawingml/2006/main">
            <a:outerShdw blurRad="152400" dist="19050" dir="5400000" algn="bl" rotWithShape="0">
              <a:srgbClr val="0B1B33">
                <a:alpha val="5000"/>
              </a:srgbClr>
            </a:outerShdw>
          </a:effectLst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80DF2889-113A-4183-ABD8-150DFAF7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456" y="2139696"/>
            <a:ext cx="256032" cy="25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12700">
            <a:solidFill>
              <a:srgbClr val="2F6BFF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6BFB754-A02E-44DD-AF8D-32DA3E6A3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456" y="2240280"/>
            <a:ext cx="7315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140">
                <a:solidFill>
                  <a:srgbClr val="2F6BFF"/>
                </a:solidFill>
                <a:latin typeface="Segoe UI"/>
                <a:ea typeface="Segoe UI"/>
                <a:cs typeface="Segoe UI"/>
              </a:rPr>
              <a:t>02</a:t>
            </a:r>
            <a:endParaRPr sz="1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18F288E-F475-49CA-B527-28DF1EA9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456" y="2615184"/>
            <a:ext cx="278892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550" b="1">
                <a:solidFill>
                  <a:srgbClr val="14213A"/>
                </a:solidFill>
                <a:latin typeface="Segoe UI"/>
                <a:ea typeface="Segoe UI"/>
                <a:cs typeface="Segoe UI"/>
              </a:rPr>
              <a:t>Distorted self-assessment</a:t>
            </a:r>
            <a:endParaRPr sz="15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F65EC73-3E27-4CBD-A98E-B946A86ED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456" y="3310128"/>
            <a:ext cx="2761488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32000"/>
              </a:lnSpc>
              <a:buNone/>
            </a:pPr>
            <a:r>
              <a:rPr sz="1050">
                <a:solidFill>
                  <a:srgbClr val="46536B"/>
                </a:solidFill>
                <a:latin typeface="Segoe UI"/>
                <a:ea typeface="Segoe UI"/>
                <a:cs typeface="Segoe UI"/>
              </a:rPr>
              <a:t>Self-rated scores are treated as proof of ability. The more confident you are, the more you overestimate, and the real gaps get systematically hidden.</a:t>
            </a:r>
            <a:endParaRPr sz="10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FB276D9E-CF7F-4F81-9731-27ECF482E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1874520"/>
            <a:ext cx="3383280" cy="265176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9F2"/>
            </a:solidFill>
            <a:prstDash val="solid"/>
          </a:ln>
          <a:effectLst xmlns:a="http://schemas.openxmlformats.org/drawingml/2006/main">
            <a:outerShdw blurRad="152400" dist="19050" dir="5400000" algn="bl" rotWithShape="0">
              <a:srgbClr val="0B1B33">
                <a:alpha val="5000"/>
              </a:srgbClr>
            </a:outerShdw>
          </a:effectLst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935951E7-39A2-455E-A09D-612CC64D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4776" y="2139696"/>
            <a:ext cx="256032" cy="25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12700">
            <a:solidFill>
              <a:srgbClr val="2F6BFF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3B169F4-8A28-40C5-830E-237EE8545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4776" y="2240280"/>
            <a:ext cx="7315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140">
                <a:solidFill>
                  <a:srgbClr val="2F6BFF"/>
                </a:solidFill>
                <a:latin typeface="Segoe UI"/>
                <a:ea typeface="Segoe UI"/>
                <a:cs typeface="Segoe UI"/>
              </a:rPr>
              <a:t>03</a:t>
            </a:r>
            <a:endParaRPr sz="10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51DF1B24-EC3F-4668-A741-31A785022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4776" y="2615184"/>
            <a:ext cx="278892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550" b="1">
                <a:solidFill>
                  <a:srgbClr val="14213A"/>
                </a:solidFill>
                <a:latin typeface="Segoe UI"/>
                <a:ea typeface="Segoe UI"/>
                <a:cs typeface="Segoe UI"/>
              </a:rPr>
              <a:t>Trend noise overwhelms</a:t>
            </a:r>
            <a:endParaRPr sz="15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91DFC98-DE83-4E2C-8F45-C846EC698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4776" y="3310128"/>
            <a:ext cx="2761488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32000"/>
              </a:lnSpc>
              <a:buNone/>
            </a:pPr>
            <a:r>
              <a:rPr sz="1050">
                <a:solidFill>
                  <a:srgbClr val="46536B"/>
                </a:solidFill>
                <a:latin typeface="Segoe UI"/>
                <a:ea typeface="Segoe UI"/>
                <a:cs typeface="Segoe UI"/>
              </a:rPr>
              <a:t>Everyone talks about the next hot skill, yet few label where the data came from, what time range it covers, or where it applies.</a:t>
            </a:r>
            <a:endParaRPr sz="10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E127DF07-2AB8-4C60-9CA4-7463366AB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828032"/>
            <a:ext cx="10634472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CFDCFB"/>
            </a:solidFill>
            <a:prstDash val="solid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BCB36B8A-A410-42EC-A352-C649EC61C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828032"/>
            <a:ext cx="54864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12700">
            <a:solidFill>
              <a:srgbClr val="2F6BFF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CEA03229-5DAF-405E-BD55-7F797389E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5029200"/>
            <a:ext cx="15727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B4BD0"/>
                </a:solidFill>
                <a:latin typeface="Segoe UI"/>
                <a:ea typeface="Segoe UI"/>
                <a:cs typeface="Segoe UI"/>
              </a:rPr>
              <a:t>The result:</a:t>
            </a:r>
            <a:endParaRPr sz="11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3CFC0A77-7A56-46DF-88CA-B23BE190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6624" y="5029200"/>
            <a:ext cx="838504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6536B"/>
                </a:solidFill>
                <a:latin typeface="Segoe UI"/>
                <a:ea typeface="Segoe UI"/>
                <a:cs typeface="Segoe UI"/>
              </a:rPr>
              <a:t>people study a great deal, yet can't tell whether it was the right thing — or which gap to close first.</a:t>
            </a:r>
            <a:endParaRPr sz="11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CDA0A7CE-AF60-4DF5-993F-07F01E9A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6345936"/>
            <a:ext cx="8686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9AA7B8"/>
                </a:solidFill>
                <a:latin typeface="Segoe UI"/>
                <a:ea typeface="Segoe UI"/>
                <a:cs typeface="Segoe UI"/>
              </a:rPr>
              <a:t>CareerBridge  ·  careerbridge-ai-9whl.onrender.com</a:t>
            </a:r>
            <a:endParaRPr sz="8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8AE96F82-2400-4472-B7BE-1110F3D17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345936"/>
            <a:ext cx="71323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9AA7B8"/>
                </a:solidFill>
                <a:latin typeface="Segoe UI"/>
                <a:ea typeface="Segoe UI"/>
                <a:cs typeface="Segoe UI"/>
              </a:rPr>
              <a:t>03</a:t>
            </a:r>
            <a:endParaRPr sz="850"/>
          </a:p>
        </p:txBody>
      </p:sp>
    </p:spTree>
    <p:extLst>
      <p:ext uri="{BB962C8B-B14F-4D97-AF65-F5344CB8AC3E}">
        <p14:creationId xmlns:p14="http://schemas.microsoft.com/office/powerpoint/2010/main" val="1892426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0A23623-E8CA-40FA-8048-D953F780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-1097280"/>
            <a:ext cx="5669280" cy="56692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B33">
              <a:alpha val="0"/>
            </a:srgbClr>
          </a:solidFill>
          <a:ln xmlns:a="http://schemas.openxmlformats.org/drawingml/2006/main" w="12700">
            <a:solidFill>
              <a:srgbClr val="274470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78A4125-82B2-4184-89C9-070D498B1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66928"/>
            <a:ext cx="310896" cy="411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B4FF"/>
          </a:solidFill>
          <a:ln xmlns:a="http://schemas.openxmlformats.org/drawingml/2006/main" w="12700">
            <a:solidFill>
              <a:srgbClr val="8FB4FF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5B83447-B17A-42DB-9CEE-67751B34F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38912"/>
            <a:ext cx="8686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 spc="220">
                <a:solidFill>
                  <a:srgbClr val="8FB4FF"/>
                </a:solidFill>
                <a:latin typeface="Segoe UI"/>
                <a:ea typeface="Segoe UI"/>
                <a:cs typeface="Segoe UI"/>
              </a:rPr>
              <a:t>02   THE SOLUTION</a:t>
            </a:r>
            <a:endParaRPr sz="9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BEEF2B9-4F96-45B4-97E7-ED718921E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841248"/>
            <a:ext cx="10607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One-line positioning</a:t>
            </a:r>
            <a:endParaRPr sz="27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BE5136A-1710-4D6A-BB6E-9117C2CA5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83080"/>
            <a:ext cx="9509760" cy="1481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6000"/>
              </a:lnSpc>
              <a:buNone/>
            </a:pPr>
            <a:r>
              <a:rPr sz="3100">
                <a:solidFill>
                  <a:srgbClr val="FFFFFF"/>
                </a:solidFill>
                <a:latin typeface="Segoe UI Light"/>
                <a:ea typeface="Segoe UI Light"/>
                <a:cs typeface="Segoe UI Light"/>
              </a:rPr>
              <a:t>Turn vague career anxiety into an</a:t>
            </a:r>
            <a:endParaRPr sz="3100"/>
          </a:p>
          <a:p xmlns:a="http://schemas.openxmlformats.org/drawingml/2006/main">
            <a:pPr marL="0" indent="0">
              <a:lnSpc>
                <a:spcPct val="116000"/>
              </a:lnSpc>
              <a:buNone/>
            </a:pPr>
            <a:r>
              <a:rPr sz="3100">
                <a:solidFill>
                  <a:srgbClr val="6EE7D7"/>
                </a:solidFill>
                <a:latin typeface="Segoe UI Light"/>
                <a:ea typeface="Segoe UI Light"/>
                <a:cs typeface="Segoe UI Light"/>
              </a:rPr>
              <a:t>explainable, executable next step.</a:t>
            </a:r>
            <a:endParaRPr sz="31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D05279C-656C-432C-B000-F6428D7DA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246120"/>
            <a:ext cx="9144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A9B8CD"/>
                </a:solidFill>
                <a:latin typeface="Segoe UI"/>
                <a:ea typeface="Segoe UI"/>
                <a:cs typeface="Segoe UI"/>
              </a:rPr>
              <a:t>Not a score — a decision path you can audit and adjust yourself.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FC0DCC0-8EAA-47C3-9A15-A4BD6E879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069080"/>
            <a:ext cx="3246120" cy="1417320"/>
          </a:xfrm>
          <a:prstGeom xmlns:a="http://schemas.openxmlformats.org/drawingml/2006/main" prst="roundRect">
            <a:avLst>
              <a:gd name="adj" fmla="val 4516"/>
            </a:avLst>
          </a:prstGeom>
          <a:solidFill xmlns:a="http://schemas.openxmlformats.org/drawingml/2006/main">
            <a:srgbClr val="14294A"/>
          </a:solidFill>
          <a:ln xmlns:a="http://schemas.openxmlformats.org/drawingml/2006/main" w="9525">
            <a:solidFill>
              <a:srgbClr val="2A4368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098C1496-72A0-4F3D-B05C-F262D4F0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315968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E7D7"/>
          </a:solidFill>
          <a:ln xmlns:a="http://schemas.openxmlformats.org/drawingml/2006/main" w="12700">
            <a:solidFill>
              <a:srgbClr val="6EE7D7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A6FCD86-1DE8-498D-A00D-A884EAA3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224528"/>
            <a:ext cx="24688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Traceable</a:t>
            </a:r>
            <a:endParaRPr sz="1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4D257C4-6465-4B9F-A0C7-B121FB35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617720"/>
            <a:ext cx="27432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1050">
                <a:solidFill>
                  <a:srgbClr val="9DB0C8"/>
                </a:solidFill>
                <a:latin typeface="Segoe UI"/>
                <a:ea typeface="Segoe UI"/>
                <a:cs typeface="Segoe UI"/>
              </a:rPr>
              <a:t>Every number links back to its source page</a:t>
            </a:r>
            <a:endParaRPr sz="10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F914EC33-AC4C-46F9-998B-2D060A2EC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4069080"/>
            <a:ext cx="3246120" cy="1417320"/>
          </a:xfrm>
          <a:prstGeom xmlns:a="http://schemas.openxmlformats.org/drawingml/2006/main" prst="roundRect">
            <a:avLst>
              <a:gd name="adj" fmla="val 4516"/>
            </a:avLst>
          </a:prstGeom>
          <a:solidFill xmlns:a="http://schemas.openxmlformats.org/drawingml/2006/main">
            <a:srgbClr val="14294A"/>
          </a:solidFill>
          <a:ln xmlns:a="http://schemas.openxmlformats.org/drawingml/2006/main" w="9525">
            <a:solidFill>
              <a:srgbClr val="2A4368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811A2C27-81B6-4E0D-8F37-A92706E5D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4315968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E7D7"/>
          </a:solidFill>
          <a:ln xmlns:a="http://schemas.openxmlformats.org/drawingml/2006/main" w="12700">
            <a:solidFill>
              <a:srgbClr val="6EE7D7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FE79CB5-CFDD-4339-9AA7-3385D1EB5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4224528"/>
            <a:ext cx="24688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Explainable</a:t>
            </a:r>
            <a:endParaRPr sz="15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A64D179-D90A-4FCD-95DA-98D70F403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4617720"/>
            <a:ext cx="27432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1050">
                <a:solidFill>
                  <a:srgbClr val="9DB0C8"/>
                </a:solidFill>
                <a:latin typeface="Segoe UI"/>
                <a:ea typeface="Segoe UI"/>
                <a:cs typeface="Segoe UI"/>
              </a:rPr>
              <a:t>The formula is laid out, not hidden</a:t>
            </a:r>
            <a:endParaRPr sz="10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E60FC4B-A22B-4279-B5C2-FBE296408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069080"/>
            <a:ext cx="3246120" cy="1417320"/>
          </a:xfrm>
          <a:prstGeom xmlns:a="http://schemas.openxmlformats.org/drawingml/2006/main" prst="roundRect">
            <a:avLst>
              <a:gd name="adj" fmla="val 4516"/>
            </a:avLst>
          </a:prstGeom>
          <a:solidFill xmlns:a="http://schemas.openxmlformats.org/drawingml/2006/main">
            <a:srgbClr val="14294A"/>
          </a:solidFill>
          <a:ln xmlns:a="http://schemas.openxmlformats.org/drawingml/2006/main" w="9525">
            <a:solidFill>
              <a:srgbClr val="2A4368"/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F08DCC39-C2D8-48BE-AAD2-017970F77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4315968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E7D7"/>
          </a:solidFill>
          <a:ln xmlns:a="http://schemas.openxmlformats.org/drawingml/2006/main" w="12700">
            <a:solidFill>
              <a:srgbClr val="6EE7D7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7B68ECB7-632A-43D7-A2FF-0B3C2A6B5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24528"/>
            <a:ext cx="24688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Actionable</a:t>
            </a:r>
            <a:endParaRPr sz="15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03D024A-6EA9-4A09-9B93-1EF73B630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4617720"/>
            <a:ext cx="27432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1050">
                <a:solidFill>
                  <a:srgbClr val="9DB0C8"/>
                </a:solidFill>
                <a:latin typeface="Segoe UI"/>
                <a:ea typeface="Segoe UI"/>
                <a:cs typeface="Segoe UI"/>
              </a:rPr>
              <a:t>Resolved into tasks, hours and order</a:t>
            </a:r>
            <a:endParaRPr sz="10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D015A387-CEA5-483C-83F7-1EBC5CDBD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6345936"/>
            <a:ext cx="8686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64789A"/>
                </a:solidFill>
                <a:latin typeface="Segoe UI"/>
                <a:ea typeface="Segoe UI"/>
                <a:cs typeface="Segoe UI"/>
              </a:rPr>
              <a:t>Source: CareerBridge  ·  careerbridge-ai-9whl.onrender.com</a:t>
            </a:r>
            <a:endParaRPr sz="8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8C074BE-65C6-4CD0-922A-A2447C7ED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345936"/>
            <a:ext cx="71323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64789A"/>
                </a:solidFill>
                <a:latin typeface="Segoe UI"/>
                <a:ea typeface="Segoe UI"/>
                <a:cs typeface="Segoe UI"/>
              </a:rPr>
              <a:t>04</a:t>
            </a:r>
            <a:endParaRPr sz="850"/>
          </a:p>
        </p:txBody>
      </p:sp>
    </p:spTree>
    <p:extLst>
      <p:ext uri="{BB962C8B-B14F-4D97-AF65-F5344CB8AC3E}">
        <p14:creationId xmlns:p14="http://schemas.microsoft.com/office/powerpoint/2010/main" val="12344463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884DDC5-24E7-4B15-AA33-9BFCA220D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66928"/>
            <a:ext cx="310896" cy="411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12700">
            <a:solidFill>
              <a:srgbClr val="2F6BFF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9659F69-66C9-4E30-B4A7-50C51079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38912"/>
            <a:ext cx="8686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 spc="220">
                <a:solidFill>
                  <a:srgbClr val="2F6BFF"/>
                </a:solidFill>
                <a:latin typeface="Segoe UI"/>
                <a:ea typeface="Segoe UI"/>
                <a:cs typeface="Segoe UI"/>
              </a:rPr>
              <a:t>03   HOW IT WORKS</a:t>
            </a:r>
            <a:endParaRPr sz="9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DFA740C-5C58-4517-B742-289499D5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841248"/>
            <a:ext cx="10607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4213A"/>
                </a:solidFill>
                <a:latin typeface="Segoe UI"/>
                <a:ea typeface="Segoe UI"/>
                <a:cs typeface="Segoe UI"/>
              </a:rPr>
              <a:t>Five steps, one closed loop</a:t>
            </a:r>
            <a:endParaRPr sz="27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9671B75-99CA-415B-8DF8-5D7EE3F3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481328"/>
            <a:ext cx="104241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7A90"/>
                </a:solidFill>
                <a:latin typeface="Segoe UI"/>
                <a:ea typeface="Segoe UI"/>
                <a:cs typeface="Segoe UI"/>
              </a:rPr>
              <a:t>From assessment to direction — every step's output is visible to the next.</a:t>
            </a:r>
            <a:endParaRPr sz="11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2A6981E-59D1-45E1-ADC5-CCAE1FE7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084832"/>
            <a:ext cx="10305288" cy="1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E"/>
          </a:solidFill>
          <a:ln xmlns:a="http://schemas.openxmlformats.org/drawingml/2006/main" w="12700">
            <a:solidFill>
              <a:srgbClr val="D6E0EE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53D3480-B46B-4CFE-8B8D-59D17481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195681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17780">
            <a:solidFill>
              <a:srgbClr val="2F6BFF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3DE69E8-BC6C-416D-AF98-60759453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1956816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  <a:endParaRPr sz="9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9EC6E09D-5334-4F59-9686-D3430CA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450592"/>
            <a:ext cx="1965960" cy="228600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9F2"/>
            </a:solidFill>
            <a:prstDash val="solid"/>
          </a:ln>
          <a:effectLst xmlns:a="http://schemas.openxmlformats.org/drawingml/2006/main">
            <a:outerShdw blurRad="152400" dist="19050" dir="5400000" algn="bl" rotWithShape="0">
              <a:srgbClr val="0B1B33">
                <a:alpha val="5000"/>
              </a:srgbClr>
            </a:outerShdw>
          </a:effectLst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9E8CBDF-5090-40EB-B467-6A6EB81B1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651760"/>
            <a:ext cx="1563624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b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350" b="1">
                <a:solidFill>
                  <a:srgbClr val="14213A"/>
                </a:solidFill>
                <a:latin typeface="Segoe UI"/>
                <a:ea typeface="Segoe UI"/>
                <a:cs typeface="Segoe UI"/>
              </a:rPr>
              <a:t>Dual-track assessment</a:t>
            </a:r>
            <a:endParaRPr sz="13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A3E2AFA-B324-412A-90DE-E7F542409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383280"/>
            <a:ext cx="1581912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32000"/>
              </a:lnSpc>
              <a:buNone/>
            </a:pPr>
            <a:r>
              <a:rPr sz="1000">
                <a:solidFill>
                  <a:srgbClr val="46536B"/>
                </a:solidFill>
                <a:latin typeface="Segoe UI"/>
                <a:ea typeface="Segoe UI"/>
                <a:cs typeface="Segoe UI"/>
              </a:rPr>
              <a:t>Self-report and verified evidence are collected separately.</a:t>
            </a:r>
            <a:endParaRPr sz="10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99B98B09-CED4-424B-ADFC-439049235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195681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780">
            <a:solidFill>
              <a:srgbClr val="2F6BFF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ACEB532-D59C-42BD-8BB7-506BDD75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1956816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2F6BFF"/>
                </a:solidFill>
                <a:latin typeface="Segoe UI"/>
                <a:ea typeface="Segoe UI"/>
                <a:cs typeface="Segoe UI"/>
              </a:rPr>
              <a:t>2</a:t>
            </a:r>
            <a:endParaRPr sz="9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463AFDEC-5EF3-479F-AB58-9BB7D2BF8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368" y="2450592"/>
            <a:ext cx="1965960" cy="228600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9F2"/>
            </a:solidFill>
            <a:prstDash val="solid"/>
          </a:ln>
          <a:effectLst xmlns:a="http://schemas.openxmlformats.org/drawingml/2006/main">
            <a:outerShdw blurRad="152400" dist="19050" dir="5400000" algn="bl" rotWithShape="0">
              <a:srgbClr val="0B1B33">
                <a:alpha val="5000"/>
              </a:srgbClr>
            </a:outerShdw>
          </a:effectLst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4502705-BB64-40BA-A93A-282C2F34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5536" y="2651760"/>
            <a:ext cx="1563624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b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350" b="1">
                <a:solidFill>
                  <a:srgbClr val="14213A"/>
                </a:solidFill>
                <a:latin typeface="Segoe UI"/>
                <a:ea typeface="Segoe UI"/>
                <a:cs typeface="Segoe UI"/>
              </a:rPr>
              <a:t>Skill map</a:t>
            </a:r>
            <a:endParaRPr sz="13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28B85639-7CA3-420F-A7D0-F9585F55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5536" y="3383280"/>
            <a:ext cx="1581912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32000"/>
              </a:lnSpc>
              <a:buNone/>
            </a:pPr>
            <a:r>
              <a:rPr sz="1000">
                <a:solidFill>
                  <a:srgbClr val="46536B"/>
                </a:solidFill>
                <a:latin typeface="Segoe UI"/>
                <a:ea typeface="Segoe UI"/>
                <a:cs typeface="Segoe UI"/>
              </a:rPr>
              <a:t>Coverage and alignment at a glance.</a:t>
            </a:r>
            <a:endParaRPr sz="10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87766F5F-41FD-4706-82B8-92AE69D05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4416" y="195681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780">
            <a:solidFill>
              <a:srgbClr val="2F6BFF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A857420-EB14-4E9B-AF13-57A22B8E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4416" y="1956816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2F6BFF"/>
                </a:solidFill>
                <a:latin typeface="Segoe UI"/>
                <a:ea typeface="Segoe UI"/>
                <a:cs typeface="Segoe UI"/>
              </a:rPr>
              <a:t>3</a:t>
            </a:r>
            <a:endParaRPr sz="9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802B6BE-856D-451C-BCCA-F5D6FD1D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1496" y="2450592"/>
            <a:ext cx="1965960" cy="228600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9F2"/>
            </a:solidFill>
            <a:prstDash val="solid"/>
          </a:ln>
          <a:effectLst xmlns:a="http://schemas.openxmlformats.org/drawingml/2006/main">
            <a:outerShdw blurRad="152400" dist="19050" dir="5400000" algn="bl" rotWithShape="0">
              <a:srgbClr val="0B1B33">
                <a:alpha val="5000"/>
              </a:srgbClr>
            </a:outerShdw>
          </a:effectLst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F80009E5-C7E4-4314-B7CC-6EDA9BBB4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2664" y="2651760"/>
            <a:ext cx="1563624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b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350" b="1">
                <a:solidFill>
                  <a:srgbClr val="14213A"/>
                </a:solidFill>
                <a:latin typeface="Segoe UI"/>
                <a:ea typeface="Segoe UI"/>
                <a:cs typeface="Segoe UI"/>
              </a:rPr>
              <a:t>Gap analysis</a:t>
            </a:r>
            <a:endParaRPr sz="13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EBF0271-2C6A-4B64-B719-84C402DDD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2664" y="3383280"/>
            <a:ext cx="1581912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32000"/>
              </a:lnSpc>
              <a:buNone/>
            </a:pPr>
            <a:r>
              <a:rPr sz="1000">
                <a:solidFill>
                  <a:srgbClr val="46536B"/>
                </a:solidFill>
                <a:latin typeface="Segoe UI"/>
                <a:ea typeface="Segoe UI"/>
                <a:cs typeface="Segoe UI"/>
              </a:rPr>
              <a:t>Level-by-level distance to each requirement.</a:t>
            </a:r>
            <a:endParaRPr sz="10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3BDB5CEA-1F78-4166-B360-E1D7238C9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544" y="195681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780">
            <a:solidFill>
              <a:srgbClr val="2F6BFF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3C719056-10D3-4CC2-B446-06B98118A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544" y="1956816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2F6BFF"/>
                </a:solidFill>
                <a:latin typeface="Segoe UI"/>
                <a:ea typeface="Segoe UI"/>
                <a:cs typeface="Segoe UI"/>
              </a:rPr>
              <a:t>4</a:t>
            </a:r>
            <a:endParaRPr sz="9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F9AD2784-5B74-42ED-8C75-FC7BE0EA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8624" y="2450592"/>
            <a:ext cx="1965960" cy="228600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9F2"/>
            </a:solidFill>
            <a:prstDash val="solid"/>
          </a:ln>
          <a:effectLst xmlns:a="http://schemas.openxmlformats.org/drawingml/2006/main">
            <a:outerShdw blurRad="152400" dist="19050" dir="5400000" algn="bl" rotWithShape="0">
              <a:srgbClr val="0B1B33">
                <a:alpha val="5000"/>
              </a:srgbClr>
            </a:outerShdw>
          </a:effectLst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50C10728-ECEC-4C6E-B688-A190EE42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2651760"/>
            <a:ext cx="1563624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b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350" b="1">
                <a:solidFill>
                  <a:srgbClr val="14213A"/>
                </a:solidFill>
                <a:latin typeface="Segoe UI"/>
                <a:ea typeface="Segoe UI"/>
                <a:cs typeface="Segoe UI"/>
              </a:rPr>
              <a:t>Learning path</a:t>
            </a:r>
            <a:endParaRPr sz="13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67413F45-7FFB-4636-8983-9E5F384B7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3383280"/>
            <a:ext cx="1581912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32000"/>
              </a:lnSpc>
              <a:buNone/>
            </a:pPr>
            <a:r>
              <a:rPr sz="1000">
                <a:solidFill>
                  <a:srgbClr val="46536B"/>
                </a:solidFill>
                <a:latin typeface="Segoe UI"/>
                <a:ea typeface="Segoe UI"/>
                <a:cs typeface="Segoe UI"/>
              </a:rPr>
              <a:t>Sequenced, with hours estimated.</a:t>
            </a:r>
            <a:endParaRPr sz="100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3FFBFEB1-65DB-43DE-B346-F91CEDE24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8672" y="195681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780">
            <a:solidFill>
              <a:srgbClr val="2F6BFF"/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173C2A62-B92E-4880-A0D5-2923AF424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8672" y="1956816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2F6BFF"/>
                </a:solidFill>
                <a:latin typeface="Segoe UI"/>
                <a:ea typeface="Segoe UI"/>
                <a:cs typeface="Segoe UI"/>
              </a:rPr>
              <a:t>5</a:t>
            </a:r>
            <a:endParaRPr sz="90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AB518473-925E-4086-A343-8276F644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5752" y="2450592"/>
            <a:ext cx="1965960" cy="228600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9F2"/>
            </a:solidFill>
            <a:prstDash val="solid"/>
          </a:ln>
          <a:effectLst xmlns:a="http://schemas.openxmlformats.org/drawingml/2006/main">
            <a:outerShdw blurRad="152400" dist="19050" dir="5400000" algn="bl" rotWithShape="0">
              <a:srgbClr val="0B1B33">
                <a:alpha val="5000"/>
              </a:srgbClr>
            </a:outerShdw>
          </a:effectLst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746A7B49-92E3-4EA0-9049-3E390D48B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2651760"/>
            <a:ext cx="1563624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b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350" b="1">
                <a:solidFill>
                  <a:srgbClr val="14213A"/>
                </a:solidFill>
                <a:latin typeface="Segoe UI"/>
                <a:ea typeface="Segoe UI"/>
                <a:cs typeface="Segoe UI"/>
              </a:rPr>
              <a:t>Trends &amp; direction</a:t>
            </a:r>
            <a:endParaRPr sz="135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9D24F40E-6CAA-490E-8D3E-0A12B63EC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3383280"/>
            <a:ext cx="1581912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32000"/>
              </a:lnSpc>
              <a:buNone/>
            </a:pPr>
            <a:r>
              <a:rPr sz="1000">
                <a:solidFill>
                  <a:srgbClr val="46536B"/>
                </a:solidFill>
                <a:latin typeface="Segoe UI"/>
                <a:ea typeface="Segoe UI"/>
                <a:cs typeface="Segoe UI"/>
              </a:rPr>
              <a:t>Sourced industry signals layered on top.</a:t>
            </a:r>
            <a:endParaRPr sz="100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A3ED6EDF-18C4-4519-9AFC-0C0EB61F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010912"/>
            <a:ext cx="10634472" cy="749808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9F2"/>
            </a:solidFill>
            <a:prstDash val="solid"/>
          </a:ln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BDDB3814-65A1-4E9D-B0E2-AD8F2710D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193792"/>
            <a:ext cx="15727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4213A"/>
                </a:solidFill>
                <a:latin typeface="Segoe UI"/>
                <a:ea typeface="Segoe UI"/>
                <a:cs typeface="Segoe UI"/>
              </a:rPr>
              <a:t>The loop closes:</a:t>
            </a:r>
            <a:endParaRPr sz="110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77092DDA-5B17-4014-AA82-B7C30DED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192" y="5193792"/>
            <a:ext cx="84307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6536B"/>
                </a:solidFill>
                <a:latin typeface="Segoe UI"/>
                <a:ea typeface="Segoe UI"/>
                <a:cs typeface="Segoe UI"/>
              </a:rPr>
              <a:t>change the target role, edit a requirement or reorder a task, and the path recalculates immediately.</a:t>
            </a:r>
            <a:endParaRPr sz="110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9FA72196-4159-4896-BD8A-007884CC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6345936"/>
            <a:ext cx="8686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9AA7B8"/>
                </a:solidFill>
                <a:latin typeface="Segoe UI"/>
                <a:ea typeface="Segoe UI"/>
                <a:cs typeface="Segoe UI"/>
              </a:rPr>
              <a:t>CareerBridge  ·  careerbridge-ai-9whl.onrender.com</a:t>
            </a:r>
            <a:endParaRPr sz="80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D404185A-4502-4A6A-88C8-1D4EAE40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345936"/>
            <a:ext cx="71323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9AA7B8"/>
                </a:solidFill>
                <a:latin typeface="Segoe UI"/>
                <a:ea typeface="Segoe UI"/>
                <a:cs typeface="Segoe UI"/>
              </a:rPr>
              <a:t>05</a:t>
            </a:r>
            <a:endParaRPr sz="850"/>
          </a:p>
        </p:txBody>
      </p:sp>
    </p:spTree>
    <p:extLst>
      <p:ext uri="{BB962C8B-B14F-4D97-AF65-F5344CB8AC3E}">
        <p14:creationId xmlns:p14="http://schemas.microsoft.com/office/powerpoint/2010/main" val="8293583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B09BA1A-6749-459A-B15D-20FE265E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66928"/>
            <a:ext cx="310896" cy="411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12700">
            <a:solidFill>
              <a:srgbClr val="2F6BFF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25CA69A-3A18-43BD-A36D-BA6CA556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38912"/>
            <a:ext cx="8686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 spc="220">
                <a:solidFill>
                  <a:srgbClr val="2F6BFF"/>
                </a:solidFill>
                <a:latin typeface="Segoe UI"/>
                <a:ea typeface="Segoe UI"/>
                <a:cs typeface="Segoe UI"/>
              </a:rPr>
              <a:t>03   HOW IT WORKS  ·  STEP 1</a:t>
            </a:r>
            <a:endParaRPr sz="9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404953F-5653-414C-A3AF-787D72AF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841248"/>
            <a:ext cx="10607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4213A"/>
                </a:solidFill>
                <a:latin typeface="Segoe UI"/>
                <a:ea typeface="Segoe UI"/>
                <a:cs typeface="Segoe UI"/>
              </a:rPr>
              <a:t>A self-rating is not evidence</a:t>
            </a:r>
            <a:endParaRPr sz="27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8C7461E-BF80-4DE6-86E4-201F620E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28800"/>
            <a:ext cx="4754880" cy="301752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E3E9F2"/>
            </a:solidFill>
            <a:prstDash val="solid"/>
          </a:ln>
          <a:effectLst xmlns:a="http://schemas.openxmlformats.org/drawingml/2006/main">
            <a:outerShdw blurRad="152400" dist="19050" dir="5400000" algn="bl" rotWithShape="0">
              <a:srgbClr val="0B1B33">
                <a:alpha val="5000"/>
              </a:srgbClr>
            </a:outerShdw>
          </a:effectLst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210E8FE-1C35-4185-AEEF-D9D10A499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048256"/>
            <a:ext cx="2743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8B9AB0"/>
                </a:solidFill>
                <a:latin typeface="Segoe UI"/>
                <a:ea typeface="Segoe UI"/>
                <a:cs typeface="Segoe UI"/>
              </a:rPr>
              <a:t>SELF-REPORT</a:t>
            </a:r>
            <a:endParaRPr sz="9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19C272A-9DDF-4BC5-9B42-02691E71E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331720"/>
            <a:ext cx="41148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5D6B80"/>
                </a:solidFill>
                <a:latin typeface="Segoe UI"/>
                <a:ea typeface="Segoe UI"/>
                <a:cs typeface="Segoe UI"/>
              </a:rPr>
              <a:t>Self-assessment</a:t>
            </a:r>
            <a:endParaRPr sz="19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E9DC9A7-734F-4D7C-9A13-0DCFEBDB1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2944368"/>
            <a:ext cx="182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A7B3C4"/>
                </a:solidFill>
                <a:latin typeface="Segoe UI"/>
                <a:ea typeface="Segoe UI"/>
                <a:cs typeface="Segoe UI"/>
              </a:rPr>
              <a:t>—</a:t>
            </a:r>
            <a:endParaRPr sz="10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5963B2E-107E-4999-A751-2923F83D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07792"/>
            <a:ext cx="38404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C7A8F"/>
                </a:solidFill>
                <a:latin typeface="Segoe UI"/>
                <a:ea typeface="Segoe UI"/>
                <a:cs typeface="Segoe UI"/>
              </a:rPr>
              <a:t>Judges your own level from experience</a:t>
            </a:r>
            <a:endParaRPr sz="10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B941462-9AD1-4F5C-9FFF-E5E6FD02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3474720"/>
            <a:ext cx="182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A7B3C4"/>
                </a:solidFill>
                <a:latin typeface="Segoe UI"/>
                <a:ea typeface="Segoe UI"/>
                <a:cs typeface="Segoe UI"/>
              </a:rPr>
              <a:t>—</a:t>
            </a:r>
            <a:endParaRPr sz="10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524AE9D-03E3-46B4-B588-E6AD37B3E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38144"/>
            <a:ext cx="38404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C7A8F"/>
                </a:solidFill>
                <a:latin typeface="Segoe UI"/>
                <a:ea typeface="Segoe UI"/>
                <a:cs typeface="Segoe UI"/>
              </a:rPr>
              <a:t>Reflects confidence, not capability</a:t>
            </a:r>
            <a:endParaRPr sz="10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634B602-36FE-491A-B400-966362F7B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4005072"/>
            <a:ext cx="182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A7B3C4"/>
                </a:solidFill>
                <a:latin typeface="Segoe UI"/>
                <a:ea typeface="Segoe UI"/>
                <a:cs typeface="Segoe UI"/>
              </a:rPr>
              <a:t>—</a:t>
            </a:r>
            <a:endParaRPr sz="10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8C228B5-D0F4-4D2C-A1E4-CBBBBA56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68496"/>
            <a:ext cx="38404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C7A8F"/>
                </a:solidFill>
                <a:latin typeface="Segoe UI"/>
                <a:ea typeface="Segoe UI"/>
                <a:cs typeface="Segoe UI"/>
              </a:rPr>
              <a:t>Stored separately — never merged into the score</a:t>
            </a:r>
            <a:endParaRPr sz="10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13E34442-191D-48D9-9006-2C76666D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5272" y="1828800"/>
            <a:ext cx="5806440" cy="301752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BFD0F5"/>
            </a:solidFill>
            <a:prstDash val="solid"/>
          </a:ln>
          <a:effectLst xmlns:a="http://schemas.openxmlformats.org/drawingml/2006/main">
            <a:outerShdw blurRad="152400" dist="19050" dir="5400000" algn="bl" rotWithShape="0">
              <a:srgbClr val="0B1B33">
                <a:alpha val="5000"/>
              </a:srgbClr>
            </a:outerShdw>
          </a:effectLst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67F459FB-CDA9-4E27-BA31-6BC16996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5272" y="1828800"/>
            <a:ext cx="580644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12700">
            <a:solidFill>
              <a:srgbClr val="2F6BFF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831DF87-E3AA-4E77-B1B1-7CD94274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168" y="2048256"/>
            <a:ext cx="3657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2F6BFF"/>
                </a:solidFill>
                <a:latin typeface="Segoe UI"/>
                <a:ea typeface="Segoe UI"/>
                <a:cs typeface="Segoe UI"/>
              </a:rPr>
              <a:t>VERIFIED EVIDENCE</a:t>
            </a:r>
            <a:endParaRPr sz="9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7A6153C-72F9-4D17-BA87-FAE451DE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168" y="2331720"/>
            <a:ext cx="51206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4213A"/>
                </a:solidFill>
                <a:latin typeface="Segoe UI"/>
                <a:ea typeface="Segoe UI"/>
                <a:cs typeface="Segoe UI"/>
              </a:rPr>
              <a:t>Assessed evidence</a:t>
            </a:r>
            <a:endParaRPr sz="19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21C0C875-24A9-4518-8307-8A012130B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17520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12700">
            <a:solidFill>
              <a:srgbClr val="2F6BFF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E18805EF-7D91-4162-9451-A8B565F5A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056" y="2907792"/>
            <a:ext cx="4937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6536B"/>
                </a:solidFill>
                <a:latin typeface="Segoe UI"/>
                <a:ea typeface="Segoe UI"/>
                <a:cs typeface="Segoe UI"/>
              </a:rPr>
              <a:t>Level decided by actual answers to questions</a:t>
            </a:r>
            <a:endParaRPr sz="10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8130F4E0-05E1-4373-B7F3-F060360EC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47872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12700">
            <a:solidFill>
              <a:srgbClr val="2F6BFF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DDBA5E7A-8700-48E6-8C11-A0FD38967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056" y="3438144"/>
            <a:ext cx="4937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6536B"/>
                </a:solidFill>
                <a:latin typeface="Segoe UI"/>
                <a:ea typeface="Segoe UI"/>
                <a:cs typeface="Segoe UI"/>
              </a:rPr>
              <a:t>Every level is on record and reviewable</a:t>
            </a:r>
            <a:endParaRPr sz="10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41396D24-FCAC-4808-B96D-C2022622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078224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12700">
            <a:solidFill>
              <a:srgbClr val="2F6BFF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93C6A6EC-D012-464D-9C7A-2F3B3AEDA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056" y="3968496"/>
            <a:ext cx="4937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6536B"/>
                </a:solidFill>
                <a:latin typeface="Segoe UI"/>
                <a:ea typeface="Segoe UI"/>
                <a:cs typeface="Segoe UI"/>
              </a:rPr>
              <a:t>The only track that feeds the ability score</a:t>
            </a:r>
            <a:endParaRPr sz="10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1D7EFE1B-F72E-4E1F-9B0B-B656CF224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1536" y="310896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3E9F2"/>
            </a:solidFill>
            <a:prstDash val="solid"/>
          </a:ln>
          <a:effectLst xmlns:a="http://schemas.openxmlformats.org/drawingml/2006/main">
            <a:outerShdw blurRad="152400" dist="19050" dir="5400000" algn="bl" rotWithShape="0">
              <a:srgbClr val="0B1B33">
                <a:alpha val="5000"/>
              </a:srgbClr>
            </a:outerShdw>
          </a:effectLst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7EA2E33A-D6B6-468F-A656-85F3D667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1536" y="310896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8B9AB0"/>
                </a:solidFill>
                <a:latin typeface="Segoe UI"/>
                <a:ea typeface="Segoe UI"/>
                <a:cs typeface="Segoe UI"/>
              </a:rPr>
              <a:t>vs</a:t>
            </a:r>
            <a:endParaRPr sz="90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3ADE278E-A77B-44CC-96A5-ECACED686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230368"/>
            <a:ext cx="10634472" cy="73152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DF3E2"/>
          </a:solidFill>
          <a:ln xmlns:a="http://schemas.openxmlformats.org/drawingml/2006/main" w="9525">
            <a:solidFill>
              <a:srgbClr val="F2DEBD"/>
            </a:solidFill>
            <a:prstDash val="solid"/>
          </a:ln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131C8FAB-633C-403E-8E94-2099F10B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230368"/>
            <a:ext cx="54864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A2D"/>
          </a:solidFill>
          <a:ln xmlns:a="http://schemas.openxmlformats.org/drawingml/2006/main" w="12700">
            <a:solidFill>
              <a:srgbClr val="E09A2D"/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2105DE67-7C0F-465E-99C2-34F8D39A3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5431536"/>
            <a:ext cx="15727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A86C10"/>
                </a:solidFill>
                <a:latin typeface="Segoe UI"/>
                <a:ea typeface="Segoe UI"/>
                <a:cs typeface="Segoe UI"/>
              </a:rPr>
              <a:t>The key distinction:</a:t>
            </a:r>
            <a:endParaRPr sz="11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E27FE97E-8372-4BC7-8A8F-539FA7174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6624" y="5431536"/>
            <a:ext cx="84307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6536B"/>
                </a:solidFill>
                <a:latin typeface="Segoe UI"/>
                <a:ea typeface="Segoe UI"/>
                <a:cs typeface="Segoe UI"/>
              </a:rPr>
              <a:t>“I think I'm good” and “the system verified it” are stored apart — confidence never becomes a score.</a:t>
            </a:r>
            <a:endParaRPr sz="11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E9481D7A-820A-4473-B4B3-42713616D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6345936"/>
            <a:ext cx="8686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9AA7B8"/>
                </a:solidFill>
                <a:latin typeface="Segoe UI"/>
                <a:ea typeface="Segoe UI"/>
                <a:cs typeface="Segoe UI"/>
              </a:rPr>
              <a:t>CareerBridge  ·  careerbridge-ai-9whl.onrender.com</a:t>
            </a:r>
            <a:endParaRPr sz="8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5917C33F-3BDF-4D09-B241-2CC7318E1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345936"/>
            <a:ext cx="71323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9AA7B8"/>
                </a:solidFill>
                <a:latin typeface="Segoe UI"/>
                <a:ea typeface="Segoe UI"/>
                <a:cs typeface="Segoe UI"/>
              </a:rPr>
              <a:t>06</a:t>
            </a:r>
            <a:endParaRPr sz="850"/>
          </a:p>
        </p:txBody>
      </p:sp>
    </p:spTree>
    <p:extLst>
      <p:ext uri="{BB962C8B-B14F-4D97-AF65-F5344CB8AC3E}">
        <p14:creationId xmlns:p14="http://schemas.microsoft.com/office/powerpoint/2010/main" val="12201513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AD261DA-5821-48D8-83ED-679C4157F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66928"/>
            <a:ext cx="310896" cy="411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12700">
            <a:solidFill>
              <a:srgbClr val="2F6BFF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7CA33D7-7706-4864-9719-E48754CE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38912"/>
            <a:ext cx="8686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 spc="220">
                <a:solidFill>
                  <a:srgbClr val="2F6BFF"/>
                </a:solidFill>
                <a:latin typeface="Segoe UI"/>
                <a:ea typeface="Segoe UI"/>
                <a:cs typeface="Segoe UI"/>
              </a:rPr>
              <a:t>03   HOW IT WORKS  ·  STEP 2</a:t>
            </a:r>
            <a:endParaRPr sz="9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AAC5CEF-900E-4D2E-AF6F-52BA4F51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841248"/>
            <a:ext cx="10607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4213A"/>
                </a:solidFill>
                <a:latin typeface="Segoe UI"/>
                <a:ea typeface="Segoe UI"/>
                <a:cs typeface="Segoe UI"/>
              </a:rPr>
              <a:t>Skill map: coverage first, then alignment</a:t>
            </a:r>
            <a:endParaRPr sz="27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3977AEE-3EB8-4156-8C5B-19647475B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74520"/>
            <a:ext cx="3383280" cy="201168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9F2"/>
            </a:solidFill>
            <a:prstDash val="solid"/>
          </a:ln>
          <a:effectLst xmlns:a="http://schemas.openxmlformats.org/drawingml/2006/main">
            <a:outerShdw blurRad="152400" dist="19050" dir="5400000" algn="bl" rotWithShape="0">
              <a:srgbClr val="0B1B33">
                <a:alpha val="5000"/>
              </a:srgbClr>
            </a:outerShdw>
          </a:effectLst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0AC606F-0E46-40C4-AB81-583BDA12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" y="2029968"/>
            <a:ext cx="27432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2F6BFF"/>
                </a:solidFill>
                <a:latin typeface="Segoe UI"/>
                <a:ea typeface="Segoe UI"/>
                <a:cs typeface="Segoe UI"/>
              </a:rPr>
              <a:t>62%</a:t>
            </a:r>
            <a:endParaRPr sz="36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EF42F6D-B5AB-47DC-8659-AB27647B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" y="2724912"/>
            <a:ext cx="2743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4213A"/>
                </a:solidFill>
                <a:latin typeface="Segoe UI"/>
                <a:ea typeface="Segoe UI"/>
                <a:cs typeface="Segoe UI"/>
              </a:rPr>
              <a:t>Alignment score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5155A36-A469-4CFF-8830-28E3F14D0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" y="3044952"/>
            <a:ext cx="2743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1000">
                <a:solidFill>
                  <a:srgbClr val="6B7A90"/>
                </a:solidFill>
                <a:latin typeface="Segoe UI"/>
                <a:ea typeface="Segoe UI"/>
                <a:cs typeface="Segoe UI"/>
              </a:rPr>
              <a:t>How close assessed skills are to the bar</a:t>
            </a:r>
            <a:endParaRPr sz="10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C20701B2-5B54-4B07-83CC-E145614B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874520"/>
            <a:ext cx="3383280" cy="201168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9F2"/>
            </a:solidFill>
            <a:prstDash val="solid"/>
          </a:ln>
          <a:effectLst xmlns:a="http://schemas.openxmlformats.org/drawingml/2006/main">
            <a:outerShdw blurRad="152400" dist="19050" dir="5400000" algn="bl" rotWithShape="0">
              <a:srgbClr val="0B1B33">
                <a:alpha val="5000"/>
              </a:srgbClr>
            </a:outerShdw>
          </a:effectLst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609E457-8495-43B2-9355-6F8E6321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456" y="2029968"/>
            <a:ext cx="27432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4213A"/>
                </a:solidFill>
                <a:latin typeface="Segoe UI"/>
                <a:ea typeface="Segoe UI"/>
                <a:cs typeface="Segoe UI"/>
              </a:rPr>
              <a:t>100%</a:t>
            </a:r>
            <a:endParaRPr sz="36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683AA3B-15F8-45E7-AD8B-77B0DC21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456" y="2724912"/>
            <a:ext cx="2743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4213A"/>
                </a:solidFill>
                <a:latin typeface="Segoe UI"/>
                <a:ea typeface="Segoe UI"/>
                <a:cs typeface="Segoe UI"/>
              </a:rPr>
              <a:t>Evidence coverage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240B417-26BC-4121-AED0-B7C22F23A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456" y="3044952"/>
            <a:ext cx="2743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1000">
                <a:solidFill>
                  <a:srgbClr val="6B7A90"/>
                </a:solidFill>
                <a:latin typeface="Segoe UI"/>
                <a:ea typeface="Segoe UI"/>
                <a:cs typeface="Segoe UI"/>
              </a:rPr>
              <a:t>7 of 7 skills have been assessed</a:t>
            </a:r>
            <a:endParaRPr sz="10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88A2BC0D-807C-40EE-8279-6B4FB76C9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1874520"/>
            <a:ext cx="3383280" cy="201168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9F2"/>
            </a:solidFill>
            <a:prstDash val="solid"/>
          </a:ln>
          <a:effectLst xmlns:a="http://schemas.openxmlformats.org/drawingml/2006/main">
            <a:outerShdw blurRad="152400" dist="19050" dir="5400000" algn="bl" rotWithShape="0">
              <a:srgbClr val="0B1B33">
                <a:alpha val="5000"/>
              </a:srgbClr>
            </a:outerShdw>
          </a:effectLst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141EB44-BE15-4511-8CB7-FC8449C3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4776" y="2029968"/>
            <a:ext cx="27432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4213A"/>
                </a:solidFill>
                <a:latin typeface="Segoe UI"/>
                <a:ea typeface="Segoe UI"/>
                <a:cs typeface="Segoe UI"/>
              </a:rPr>
              <a:t>7 / 7</a:t>
            </a:r>
            <a:endParaRPr sz="36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EBA3429-CA75-4E1B-8EEE-E7FCEE27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4776" y="2724912"/>
            <a:ext cx="2743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4213A"/>
                </a:solidFill>
                <a:latin typeface="Segoe UI"/>
                <a:ea typeface="Segoe UI"/>
                <a:cs typeface="Segoe UI"/>
              </a:rPr>
              <a:t>Coverage count</a:t>
            </a:r>
            <a:endParaRPr sz="12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C664C187-DB7F-449E-BFBA-022D8772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4776" y="3044952"/>
            <a:ext cx="2743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1000">
                <a:solidFill>
                  <a:srgbClr val="6B7A90"/>
                </a:solidFill>
                <a:latin typeface="Segoe UI"/>
                <a:ea typeface="Segoe UI"/>
                <a:cs typeface="Segoe UI"/>
              </a:rPr>
              <a:t>Unassessed skills never count as zero</a:t>
            </a:r>
            <a:endParaRPr sz="10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EA5E26D6-BEF8-4A9B-A2BE-5087E1B8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160520"/>
            <a:ext cx="6903720" cy="187452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9F2"/>
            </a:solidFill>
            <a:prstDash val="solid"/>
          </a:ln>
          <a:effectLst xmlns:a="http://schemas.openxmlformats.org/drawingml/2006/main">
            <a:outerShdw blurRad="152400" dist="19050" dir="5400000" algn="bl" rotWithShape="0">
              <a:srgbClr val="0B1B33">
                <a:alpha val="5000"/>
              </a:srgbClr>
            </a:outerShdw>
          </a:effectLst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7E747B12-A902-44E6-9D30-8A4A4E0A6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4334256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2F6BFF"/>
                </a:solidFill>
                <a:latin typeface="Segoe UI"/>
                <a:ea typeface="Segoe UI"/>
                <a:cs typeface="Segoe UI"/>
              </a:rPr>
              <a:t>WHAT THE MAP ANSWERS</a:t>
            </a:r>
            <a:endParaRPr sz="9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D913488-0A57-4E12-BA83-18EF1C6F4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4645152"/>
            <a:ext cx="1234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4213A"/>
                </a:solidFill>
                <a:latin typeface="Segoe UI"/>
                <a:ea typeface="Segoe UI"/>
                <a:cs typeface="Segoe UI"/>
              </a:rPr>
              <a:t>Coverage</a:t>
            </a:r>
            <a:endParaRPr sz="10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8544D6AC-E238-4752-8DA9-6A2267983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4645152"/>
            <a:ext cx="5029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6536B"/>
                </a:solidFill>
                <a:latin typeface="Segoe UI"/>
                <a:ea typeface="Segoe UI"/>
                <a:cs typeface="Segoe UI"/>
              </a:rPr>
              <a:t>Have we actually assessed this skill?</a:t>
            </a:r>
            <a:endParaRPr sz="100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A9771AFE-8017-499E-946B-5CB29D7A8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4992624"/>
            <a:ext cx="6309360" cy="73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8"/>
          </a:solidFill>
          <a:ln xmlns:a="http://schemas.openxmlformats.org/drawingml/2006/main" w="12700">
            <a:solidFill>
              <a:srgbClr val="EEF2F8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CF67C4B-D2F7-457E-AD6F-0F942E94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5065776"/>
            <a:ext cx="1234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4213A"/>
                </a:solidFill>
                <a:latin typeface="Segoe UI"/>
                <a:ea typeface="Segoe UI"/>
                <a:cs typeface="Segoe UI"/>
              </a:rPr>
              <a:t>Alignment</a:t>
            </a:r>
            <a:endParaRPr sz="10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36FCA665-DD7B-442F-B0C2-D1FFA7A0B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5065776"/>
            <a:ext cx="5029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6536B"/>
                </a:solidFill>
                <a:latin typeface="Segoe UI"/>
                <a:ea typeface="Segoe UI"/>
                <a:cs typeface="Segoe UI"/>
              </a:rPr>
              <a:t>How far is it from what the role asks for?</a:t>
            </a:r>
            <a:endParaRPr sz="10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6AEA2549-19F9-4BD6-8C60-764E1A84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5413248"/>
            <a:ext cx="6309360" cy="73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8"/>
          </a:solidFill>
          <a:ln xmlns:a="http://schemas.openxmlformats.org/drawingml/2006/main" w="12700">
            <a:solidFill>
              <a:srgbClr val="EEF2F8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1322CCBF-EA7D-4886-91EE-70175FB91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5486400"/>
            <a:ext cx="1234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4213A"/>
                </a:solidFill>
                <a:latin typeface="Segoe UI"/>
                <a:ea typeface="Segoe UI"/>
                <a:cs typeface="Segoe UI"/>
              </a:rPr>
              <a:t>Gaps</a:t>
            </a:r>
            <a:endParaRPr sz="10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4885A034-7C02-4C6A-8186-B9ADA243B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5486400"/>
            <a:ext cx="5029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6536B"/>
                </a:solidFill>
                <a:latin typeface="Segoe UI"/>
                <a:ea typeface="Segoe UI"/>
                <a:cs typeface="Segoe UI"/>
              </a:rPr>
              <a:t>Where does the learning path need to start?</a:t>
            </a:r>
            <a:endParaRPr sz="100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BEA04A10-7233-4489-AC08-EF667D67B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8" y="4160520"/>
            <a:ext cx="3529584" cy="187452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9F2"/>
            </a:solidFill>
            <a:prstDash val="solid"/>
          </a:ln>
          <a:effectLst xmlns:a="http://schemas.openxmlformats.org/drawingml/2006/main">
            <a:outerShdw blurRad="152400" dist="19050" dir="5400000" algn="bl" rotWithShape="0">
              <a:srgbClr val="0B1B33">
                <a:alpha val="5000"/>
              </a:srgbClr>
            </a:outerShdw>
          </a:effectLst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AE2CF0A1-FABE-47F1-A1C5-1934A8AA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4334256"/>
            <a:ext cx="29260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80">
                <a:solidFill>
                  <a:srgbClr val="2F6BFF"/>
                </a:solidFill>
                <a:latin typeface="Segoe UI"/>
                <a:ea typeface="Segoe UI"/>
                <a:cs typeface="Segoe UI"/>
              </a:rPr>
              <a:t>HOW IT'S COUNTED</a:t>
            </a:r>
            <a:endParaRPr sz="85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72BF3CB1-6770-4F7B-888E-A5FD3592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4590288"/>
            <a:ext cx="29260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150">
                <a:solidFill>
                  <a:srgbClr val="1B4BD0"/>
                </a:solidFill>
                <a:latin typeface="Consolas"/>
                <a:ea typeface="Consolas"/>
                <a:cs typeface="Consolas"/>
              </a:rPr>
              <a:t>min(current, required)</a:t>
            </a:r>
            <a:endParaRPr sz="1150"/>
          </a:p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150">
                <a:solidFill>
                  <a:srgbClr val="1B4BD0"/>
                </a:solidFill>
                <a:latin typeface="Consolas"/>
                <a:ea typeface="Consolas"/>
                <a:cs typeface="Consolas"/>
              </a:rPr>
              <a:t>  ÷  required level</a:t>
            </a:r>
            <a:endParaRPr sz="115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B108D6B4-B68D-48C0-B0BD-8E5BCA65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5230368"/>
            <a:ext cx="292608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900">
                <a:solidFill>
                  <a:srgbClr val="6B7A90"/>
                </a:solidFill>
                <a:latin typeface="Segoe UI"/>
                <a:ea typeface="Segoe UI"/>
                <a:cs typeface="Segoe UI"/>
              </a:rPr>
              <a:t>Averaged across skills with level evidence. Skills without evidence are excluded — never scored zero.</a:t>
            </a:r>
            <a:endParaRPr sz="9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0F184297-FDF1-4E71-AEA3-E86BB3EFE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6345936"/>
            <a:ext cx="8686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9AA7B8"/>
                </a:solidFill>
                <a:latin typeface="Segoe UI"/>
                <a:ea typeface="Segoe UI"/>
                <a:cs typeface="Segoe UI"/>
              </a:rPr>
              <a:t>CareerBridge  ·  careerbridge-ai-9whl.onrender.com</a:t>
            </a:r>
            <a:endParaRPr sz="8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3B66915A-5E71-4332-BF4D-DB178F95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345936"/>
            <a:ext cx="71323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9AA7B8"/>
                </a:solidFill>
                <a:latin typeface="Segoe UI"/>
                <a:ea typeface="Segoe UI"/>
                <a:cs typeface="Segoe UI"/>
              </a:rPr>
              <a:t>07</a:t>
            </a:r>
            <a:endParaRPr sz="850"/>
          </a:p>
        </p:txBody>
      </p:sp>
    </p:spTree>
    <p:extLst>
      <p:ext uri="{BB962C8B-B14F-4D97-AF65-F5344CB8AC3E}">
        <p14:creationId xmlns:p14="http://schemas.microsoft.com/office/powerpoint/2010/main" val="10702690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531C57F-472D-41E1-96B7-8E8779ED9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66928"/>
            <a:ext cx="310896" cy="411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12700">
            <a:solidFill>
              <a:srgbClr val="2F6BFF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7176772-08A4-4FD3-813C-EB14F3323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38912"/>
            <a:ext cx="8686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 spc="220">
                <a:solidFill>
                  <a:srgbClr val="2F6BFF"/>
                </a:solidFill>
                <a:latin typeface="Segoe UI"/>
                <a:ea typeface="Segoe UI"/>
                <a:cs typeface="Segoe UI"/>
              </a:rPr>
              <a:t>03   HOW IT WORKS  ·  STEP 3</a:t>
            </a:r>
            <a:endParaRPr sz="9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F21CA13-25CC-426F-A084-F379EA09B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841248"/>
            <a:ext cx="10607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4213A"/>
                </a:solidFill>
                <a:latin typeface="Segoe UI"/>
                <a:ea typeface="Segoe UI"/>
                <a:cs typeface="Segoe UI"/>
              </a:rPr>
              <a:t>Gap analysis: how many levels short, at a glance</a:t>
            </a:r>
            <a:endParaRPr sz="27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255B0D6-8094-4737-B785-F2FBB103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847088"/>
            <a:ext cx="1234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spc="30">
                <a:solidFill>
                  <a:srgbClr val="6B7A90"/>
                </a:solidFill>
                <a:latin typeface="Segoe UI"/>
                <a:ea typeface="Segoe UI"/>
                <a:cs typeface="Segoe UI"/>
              </a:rPr>
              <a:t>Beginner</a:t>
            </a:r>
            <a:endParaRPr sz="9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C38A29C-FD70-401B-8C09-1944EF5E6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847088"/>
            <a:ext cx="1234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spc="30">
                <a:solidFill>
                  <a:srgbClr val="6B7A90"/>
                </a:solidFill>
                <a:latin typeface="Segoe UI"/>
                <a:ea typeface="Segoe UI"/>
                <a:cs typeface="Segoe UI"/>
              </a:rPr>
              <a:t>Foundational</a:t>
            </a:r>
            <a:endParaRPr sz="9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C51CB6E-95AC-44B9-9DD8-82F3AD67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847088"/>
            <a:ext cx="1234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spc="30">
                <a:solidFill>
                  <a:srgbClr val="6B7A90"/>
                </a:solidFill>
                <a:latin typeface="Segoe UI"/>
                <a:ea typeface="Segoe UI"/>
                <a:cs typeface="Segoe UI"/>
              </a:rPr>
              <a:t>Independent</a:t>
            </a:r>
            <a:endParaRPr sz="9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C6F77C3-D03E-4DCF-83AD-95B9B260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1847088"/>
            <a:ext cx="1234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spc="30">
                <a:solidFill>
                  <a:srgbClr val="6B7A90"/>
                </a:solidFill>
                <a:latin typeface="Segoe UI"/>
                <a:ea typeface="Segoe UI"/>
                <a:cs typeface="Segoe UI"/>
              </a:rPr>
              <a:t>Advanced</a:t>
            </a:r>
            <a:endParaRPr sz="9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9B85A77F-A431-4959-95A9-7E2E2D872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67712"/>
            <a:ext cx="10634472" cy="603504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3E9F2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61D027D-FE49-43BF-97AF-A0C4218D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304288"/>
            <a:ext cx="21945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4213A"/>
                </a:solidFill>
                <a:latin typeface="Segoe UI"/>
                <a:ea typeface="Segoe UI"/>
                <a:cs typeface="Segoe UI"/>
              </a:rPr>
              <a:t>Python</a:t>
            </a:r>
            <a:endParaRPr sz="12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67F48B13-EDFC-43FF-AD71-1988EE2A4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2468880"/>
            <a:ext cx="1197864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6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DB4E08F6-95C0-4E16-B00D-DD9C11332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468880"/>
            <a:ext cx="1197864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6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D2ACAB82-E0CB-4A3D-9C9A-F030F35F9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68880"/>
            <a:ext cx="1197864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6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76FF87B-FA60-41BE-9CCB-883098E5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468880"/>
            <a:ext cx="1197864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6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70D5ECFE-D46A-4FC8-9DCC-2C2BF5A7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2468880"/>
            <a:ext cx="2432304" cy="201168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12700">
            <a:solidFill>
              <a:srgbClr val="2F6BFF"/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95E15E0-1A17-48F1-B467-77B902A0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359152"/>
            <a:ext cx="45720" cy="420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A2D"/>
          </a:solidFill>
          <a:ln xmlns:a="http://schemas.openxmlformats.org/drawingml/2006/main" w="12700">
            <a:solidFill>
              <a:srgbClr val="E09A2D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F7240AF-77E5-4C9F-BB20-8F8FB522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2313432"/>
            <a:ext cx="914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B4700F"/>
                </a:solidFill>
                <a:latin typeface="Segoe UI"/>
                <a:ea typeface="Segoe UI"/>
                <a:cs typeface="Segoe UI"/>
              </a:rPr>
              <a:t>-2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412C6BB-E3CA-49E2-B61C-1962CD94A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2596896"/>
            <a:ext cx="1280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6B7A90"/>
                </a:solidFill>
                <a:latin typeface="Segoe UI"/>
                <a:ea typeface="Segoe UI"/>
                <a:cs typeface="Segoe UI"/>
              </a:rPr>
              <a:t>levels short</a:t>
            </a:r>
            <a:endParaRPr sz="8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09E5C47A-F596-4A78-9639-5B5417397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17520"/>
            <a:ext cx="10634472" cy="603504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0F4FA"/>
          </a:solidFill>
          <a:ln xmlns:a="http://schemas.openxmlformats.org/drawingml/2006/main" w="7620">
            <a:solidFill>
              <a:srgbClr val="F0F4FA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0EAACFFF-A9AF-4F88-99C8-C6C66CA1E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054096"/>
            <a:ext cx="21945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4213A"/>
                </a:solidFill>
                <a:latin typeface="Segoe UI"/>
                <a:ea typeface="Segoe UI"/>
                <a:cs typeface="Segoe UI"/>
              </a:rPr>
              <a:t>SQL</a:t>
            </a:r>
            <a:endParaRPr sz="120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A18E0A07-1021-4771-AC22-5B628AB3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3218688"/>
            <a:ext cx="1197864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6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D415C204-411B-4EF9-BD18-2F706385C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3218688"/>
            <a:ext cx="1197864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6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247D4179-940B-47DD-8C77-94BB7935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18688"/>
            <a:ext cx="1197864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6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DB5BFE5A-4A19-4B03-B382-0770A554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218688"/>
            <a:ext cx="1197864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6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52DABFA3-3316-480F-AC6A-05DE2179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3218688"/>
            <a:ext cx="2432304" cy="201168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12700">
            <a:solidFill>
              <a:srgbClr val="2F6BFF"/>
            </a:solidFill>
            <a:prstDash val="solid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4B4365E3-FA9F-4A66-9A42-641D6717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108960"/>
            <a:ext cx="45720" cy="420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A2D"/>
          </a:solidFill>
          <a:ln xmlns:a="http://schemas.openxmlformats.org/drawingml/2006/main" w="12700">
            <a:solidFill>
              <a:srgbClr val="E09A2D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6295F1DD-F00F-4EB6-950C-E4E934A30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3063240"/>
            <a:ext cx="914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B4700F"/>
                </a:solidFill>
                <a:latin typeface="Segoe UI"/>
                <a:ea typeface="Segoe UI"/>
                <a:cs typeface="Segoe UI"/>
              </a:rPr>
              <a:t>-1</a:t>
            </a:r>
            <a:endParaRPr sz="13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2D4CC299-B5B1-4D88-95CA-2550906F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3346704"/>
            <a:ext cx="1280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6B7A90"/>
                </a:solidFill>
                <a:latin typeface="Segoe UI"/>
                <a:ea typeface="Segoe UI"/>
                <a:cs typeface="Segoe UI"/>
              </a:rPr>
              <a:t>levels short</a:t>
            </a:r>
            <a:endParaRPr sz="80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FEC7D100-EA56-4DD6-99C1-6B830A36C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767328"/>
            <a:ext cx="10634472" cy="603504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3E9F2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FA5A1E26-1B2F-4FA7-8C3A-DC59F8A4D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803904"/>
            <a:ext cx="21945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4213A"/>
                </a:solidFill>
                <a:latin typeface="Segoe UI"/>
                <a:ea typeface="Segoe UI"/>
                <a:cs typeface="Segoe UI"/>
              </a:rPr>
              <a:t>Data analytics</a:t>
            </a:r>
            <a:endParaRPr sz="120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9BB00694-5DEC-41F3-B84C-DB214107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3968496"/>
            <a:ext cx="1197864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6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379C0669-1F40-445E-868E-195E888F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3968496"/>
            <a:ext cx="1197864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6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61937548-1B8A-43BB-A8FE-9B17755B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968496"/>
            <a:ext cx="1197864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6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7D0C705F-78C7-4177-BFA6-4E0C1C2B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968496"/>
            <a:ext cx="1197864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6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AFAFF4E6-F318-4B58-80D0-D0C3AE3DC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3968496"/>
            <a:ext cx="2432304" cy="201168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12700">
            <a:solidFill>
              <a:srgbClr val="2F6BFF"/>
            </a:solidFill>
            <a:prstDash val="solid"/>
          </a:ln>
        </p:spPr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A93DF104-58EA-4628-A792-DB32B0B1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858768"/>
            <a:ext cx="45720" cy="420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A2D"/>
          </a:solidFill>
          <a:ln xmlns:a="http://schemas.openxmlformats.org/drawingml/2006/main" w="12700">
            <a:solidFill>
              <a:srgbClr val="E09A2D"/>
            </a:solidFill>
            <a:prstDash val="solid"/>
          </a:ln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9E5D8BD7-AFE8-4267-8399-C9FDF916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3813048"/>
            <a:ext cx="914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B4700F"/>
                </a:solidFill>
                <a:latin typeface="Segoe UI"/>
                <a:ea typeface="Segoe UI"/>
                <a:cs typeface="Segoe UI"/>
              </a:rPr>
              <a:t>-1</a:t>
            </a:r>
            <a:endParaRPr sz="1300"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D9F0A1E9-D718-4E9D-BDFA-117091BC5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4096512"/>
            <a:ext cx="1280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6B7A90"/>
                </a:solidFill>
                <a:latin typeface="Segoe UI"/>
                <a:ea typeface="Segoe UI"/>
                <a:cs typeface="Segoe UI"/>
              </a:rPr>
              <a:t>levels short</a:t>
            </a:r>
            <a:endParaRPr sz="800"/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C759602D-1351-4EDB-9F20-25BB57B8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517136"/>
            <a:ext cx="10634472" cy="603504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0F4FA"/>
          </a:solidFill>
          <a:ln xmlns:a="http://schemas.openxmlformats.org/drawingml/2006/main" w="7620">
            <a:solidFill>
              <a:srgbClr val="F0F4FA"/>
            </a:solidFill>
            <a:prstDash val="solid"/>
          </a:ln>
        </p:spPr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DDDF066B-4153-4755-9153-EF965B418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553712"/>
            <a:ext cx="21945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4213A"/>
                </a:solidFill>
                <a:latin typeface="Segoe UI"/>
                <a:ea typeface="Segoe UI"/>
                <a:cs typeface="Segoe UI"/>
              </a:rPr>
              <a:t>Data visualization</a:t>
            </a:r>
            <a:endParaRPr sz="1200"/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09FB6905-FEC6-4C24-9CC1-E7580570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4718304"/>
            <a:ext cx="1197864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6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030046A5-90BC-4ABC-8168-E21FDE61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4718304"/>
            <a:ext cx="1197864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6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F1F977E2-5033-4234-ABF6-D7E26A547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18304"/>
            <a:ext cx="1197864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6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866A9C5D-8A04-4ABF-8C5D-3B7F6241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4718304"/>
            <a:ext cx="1197864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6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7B2C355A-4763-4500-92FC-106B66732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4718304"/>
            <a:ext cx="2432304" cy="201168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12700">
            <a:solidFill>
              <a:srgbClr val="2F6BFF"/>
            </a:solidFill>
            <a:prstDash val="solid"/>
          </a:ln>
        </p:spPr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9BC960D0-0B78-434C-933A-E03D04F73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4608576"/>
            <a:ext cx="45720" cy="420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A2D"/>
          </a:solidFill>
          <a:ln xmlns:a="http://schemas.openxmlformats.org/drawingml/2006/main" w="12700">
            <a:solidFill>
              <a:srgbClr val="E09A2D"/>
            </a:solidFill>
            <a:prstDash val="solid"/>
          </a:ln>
        </p:spPr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A6EE203B-ABD0-47B1-B5C8-89CBEF45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4562856"/>
            <a:ext cx="914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B4700F"/>
                </a:solidFill>
                <a:latin typeface="Segoe UI"/>
                <a:ea typeface="Segoe UI"/>
                <a:cs typeface="Segoe UI"/>
              </a:rPr>
              <a:t>-1</a:t>
            </a:r>
            <a:endParaRPr sz="1300"/>
          </a:p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68769084-FA92-4998-9C0B-79DBDD24E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4846320"/>
            <a:ext cx="1280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6B7A90"/>
                </a:solidFill>
                <a:latin typeface="Segoe UI"/>
                <a:ea typeface="Segoe UI"/>
                <a:cs typeface="Segoe UI"/>
              </a:rPr>
              <a:t>levels short</a:t>
            </a:r>
            <a:endParaRPr sz="800"/>
          </a:p>
        </p:txBody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4E9CB737-6088-4527-9F86-CF5E7F970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641848"/>
            <a:ext cx="27432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12700">
            <a:solidFill>
              <a:srgbClr val="2F6BFF"/>
            </a:solidFill>
            <a:prstDash val="solid"/>
          </a:ln>
        </p:spPr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224905F5-A3F2-4645-A4C4-9DAD0C318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557784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46536B"/>
                </a:solidFill>
                <a:latin typeface="Segoe UI"/>
                <a:ea typeface="Segoe UI"/>
                <a:cs typeface="Segoe UI"/>
              </a:rPr>
              <a:t>Current level</a:t>
            </a:r>
            <a:endParaRPr sz="900"/>
          </a:p>
        </p:txBody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B7744466-5B2B-4776-A9E1-886D89F9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5577840"/>
            <a:ext cx="4572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A2D"/>
          </a:solidFill>
          <a:ln xmlns:a="http://schemas.openxmlformats.org/drawingml/2006/main" w="12700">
            <a:solidFill>
              <a:srgbClr val="E09A2D"/>
            </a:solidFill>
            <a:prstDash val="solid"/>
          </a:ln>
        </p:spPr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47A853C3-9822-41D2-8BE3-4384A5BE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577840"/>
            <a:ext cx="1645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46536B"/>
                </a:solidFill>
                <a:latin typeface="Segoe UI"/>
                <a:ea typeface="Segoe UI"/>
                <a:cs typeface="Segoe UI"/>
              </a:rPr>
              <a:t>Job requirement</a:t>
            </a:r>
            <a:endParaRPr sz="900"/>
          </a:p>
        </p:txBody>
      </p:sp>
      <p:sp>
        <p:nvSpPr>
          <p:cNvPr id="53" name="Text 51">
            <a:extLst xmlns:a="http://schemas.openxmlformats.org/drawingml/2006/main">
              <a:ext uri="{FF2B5EF4-FFF2-40B4-BE49-F238E27FC236}">
                <a16:creationId xmlns:a16="http://schemas.microsoft.com/office/drawing/2014/main" id="{C84782C9-8A6E-4F47-A7AF-4ED79FA6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5577840"/>
            <a:ext cx="6035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6B7A90"/>
                </a:solidFill>
                <a:latin typeface="Segoe UI"/>
                <a:ea typeface="Segoe UI"/>
                <a:cs typeface="Segoe UI"/>
              </a:rPr>
              <a:t>Gaps are counted in levels — not in number of questions answered.</a:t>
            </a:r>
            <a:endParaRPr sz="900"/>
          </a:p>
        </p:txBody>
      </p:sp>
      <p:sp>
        <p:nvSpPr>
          <p:cNvPr id="54" name="Text 52">
            <a:extLst xmlns:a="http://schemas.openxmlformats.org/drawingml/2006/main">
              <a:ext uri="{FF2B5EF4-FFF2-40B4-BE49-F238E27FC236}">
                <a16:creationId xmlns:a16="http://schemas.microsoft.com/office/drawing/2014/main" id="{D35B3E1A-CA49-4324-8CBC-604D824C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6345936"/>
            <a:ext cx="8686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9AA7B8"/>
                </a:solidFill>
                <a:latin typeface="Segoe UI"/>
                <a:ea typeface="Segoe UI"/>
                <a:cs typeface="Segoe UI"/>
              </a:rPr>
              <a:t>CareerBridge  ·  careerbridge-ai-9whl.onrender.com</a:t>
            </a:r>
            <a:endParaRPr sz="800"/>
          </a:p>
        </p:txBody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D9252F4D-336D-41CA-BADE-9CD2E469F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345936"/>
            <a:ext cx="71323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9AA7B8"/>
                </a:solidFill>
                <a:latin typeface="Segoe UI"/>
                <a:ea typeface="Segoe UI"/>
                <a:cs typeface="Segoe UI"/>
              </a:rPr>
              <a:t>08</a:t>
            </a:r>
            <a:endParaRPr sz="850"/>
          </a:p>
        </p:txBody>
      </p:sp>
    </p:spTree>
    <p:extLst>
      <p:ext uri="{BB962C8B-B14F-4D97-AF65-F5344CB8AC3E}">
        <p14:creationId xmlns:p14="http://schemas.microsoft.com/office/powerpoint/2010/main" val="21033620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6452212-CDE8-4741-BFCE-1720EB81F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66928"/>
            <a:ext cx="310896" cy="411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12700">
            <a:solidFill>
              <a:srgbClr val="2F6BFF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EBD0496-DBFF-4A46-A9C6-1B162CE9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38912"/>
            <a:ext cx="8686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 spc="220">
                <a:solidFill>
                  <a:srgbClr val="2F6BFF"/>
                </a:solidFill>
                <a:latin typeface="Segoe UI"/>
                <a:ea typeface="Segoe UI"/>
                <a:cs typeface="Segoe UI"/>
              </a:rPr>
              <a:t>03   HOW IT WORKS  ·  STEP 4</a:t>
            </a:r>
            <a:endParaRPr sz="9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4B4E58C-0A3C-48A8-8BFB-85CD62E97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841248"/>
            <a:ext cx="10607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4213A"/>
                </a:solidFill>
                <a:latin typeface="Segoe UI"/>
                <a:ea typeface="Segoe UI"/>
                <a:cs typeface="Segoe UI"/>
              </a:rPr>
              <a:t>Learning path: sequenced, estimated, editable</a:t>
            </a:r>
            <a:endParaRPr sz="27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34F8B5C-6253-4B7C-86D2-0D0BD194C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28800"/>
            <a:ext cx="3063240" cy="3840480"/>
          </a:xfrm>
          <a:prstGeom xmlns:a="http://schemas.openxmlformats.org/drawingml/2006/main" prst="roundRect">
            <a:avLst>
              <a:gd name="adj" fmla="val 23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9F2"/>
            </a:solidFill>
            <a:prstDash val="solid"/>
          </a:ln>
          <a:effectLst xmlns:a="http://schemas.openxmlformats.org/drawingml/2006/main">
            <a:outerShdw blurRad="152400" dist="19050" dir="5400000" algn="bl" rotWithShape="0">
              <a:srgbClr val="0B1B33">
                <a:alpha val="5000"/>
              </a:srgbClr>
            </a:outerShdw>
          </a:effectLst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26BC065-34D5-4F75-B7E7-5E397F150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084832"/>
            <a:ext cx="25603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2F6BFF"/>
                </a:solidFill>
                <a:latin typeface="Segoe UI"/>
                <a:ea typeface="Segoe UI"/>
                <a:cs typeface="Segoe UI"/>
              </a:rPr>
              <a:t>0/4</a:t>
            </a:r>
            <a:endParaRPr sz="40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DBCC0E7-0C5B-41AD-AFF9-EA324BCE2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788920"/>
            <a:ext cx="2468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6536B"/>
                </a:solidFill>
                <a:latin typeface="Segoe UI"/>
                <a:ea typeface="Segoe UI"/>
                <a:cs typeface="Segoe UI"/>
              </a:rPr>
              <a:t>Path tasks completed</a:t>
            </a:r>
            <a:endParaRPr sz="11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421E8B75-309E-4123-8CCD-F7717B62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246120"/>
            <a:ext cx="251460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9F2"/>
          </a:solidFill>
          <a:ln xmlns:a="http://schemas.openxmlformats.org/drawingml/2006/main" w="12700">
            <a:solidFill>
              <a:srgbClr val="E3E9F2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815CFC7-67BC-40AE-8987-DBBA1371C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429000"/>
            <a:ext cx="11887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4213A"/>
                </a:solidFill>
                <a:latin typeface="Segoe UI"/>
                <a:ea typeface="Segoe UI"/>
                <a:cs typeface="Segoe UI"/>
              </a:rPr>
              <a:t>18</a:t>
            </a:r>
            <a:endParaRPr sz="36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19D9D50-B4BA-4C3D-8C5A-AC9961A8A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114800"/>
            <a:ext cx="2468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4213A"/>
                </a:solidFill>
                <a:latin typeface="Segoe UI"/>
                <a:ea typeface="Segoe UI"/>
                <a:cs typeface="Segoe UI"/>
              </a:rPr>
              <a:t>hours · ~4 weeks</a:t>
            </a:r>
            <a:endParaRPr sz="11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7D0D256-8241-44EC-AE26-FA356BA26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407408"/>
            <a:ext cx="2468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6B7A90"/>
                </a:solidFill>
                <a:latin typeface="Segoe UI"/>
                <a:ea typeface="Segoe UI"/>
                <a:cs typeface="Segoe UI"/>
              </a:rPr>
              <a:t>Based on 5 hours per week</a:t>
            </a:r>
            <a:endParaRPr sz="9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13D259E8-39DC-40FF-B625-0BC9815F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846320"/>
            <a:ext cx="2514600" cy="566928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E6F7F5"/>
          </a:solidFill>
          <a:ln xmlns:a="http://schemas.openxmlformats.org/drawingml/2006/main" w="9525">
            <a:solidFill>
              <a:srgbClr val="CDEAE6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D032133-5CAD-4964-A1B7-BB7DEE7D9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4919472"/>
            <a:ext cx="22402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880">
                <a:solidFill>
                  <a:srgbClr val="1D7A72"/>
                </a:solidFill>
                <a:latin typeface="Segoe UI"/>
                <a:ea typeface="Segoe UI"/>
                <a:cs typeface="Segoe UI"/>
              </a:rPr>
              <a:t>Reorder anytime — the plan recalculates.</a:t>
            </a:r>
            <a:endParaRPr sz="88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40BA1F85-174D-471E-A9B8-A95478E3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392" y="2194560"/>
            <a:ext cx="10973" cy="3246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F0"/>
          </a:solidFill>
          <a:ln xmlns:a="http://schemas.openxmlformats.org/drawingml/2006/main" w="12700">
            <a:solidFill>
              <a:srgbClr val="DCE4F0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2C3D865-90ED-47FC-8DBD-CFFEC8D1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192024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15240">
            <a:solidFill>
              <a:srgbClr val="2F6BFF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21891193-8B4E-46EA-A9BB-BB90F3764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1920240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01</a:t>
            </a:r>
            <a:endParaRPr sz="7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5A875A37-5705-45E8-A4E2-DBEAEA8A2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1892808"/>
            <a:ext cx="6675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4213A"/>
                </a:solidFill>
                <a:latin typeface="Segoe UI"/>
                <a:ea typeface="Segoe UI"/>
                <a:cs typeface="Segoe UI"/>
              </a:rPr>
              <a:t>Close Python first</a:t>
            </a:r>
            <a:endParaRPr sz="13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1DCE7BF1-F265-4B9B-8CF4-D9B3DA13D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2221992"/>
            <a:ext cx="6492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00">
                <a:solidFill>
                  <a:srgbClr val="46536B"/>
                </a:solidFill>
                <a:latin typeface="Segoe UI"/>
                <a:ea typeface="Segoe UI"/>
                <a:cs typeface="Segoe UI"/>
              </a:rPr>
              <a:t>Two levels behind — highest priority, start in week one.</a:t>
            </a:r>
            <a:endParaRPr sz="10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043C509D-23E2-48A2-A2B2-6C4A37600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2953512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C9D5E6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D7ED5BD9-79E2-4E73-9040-F71244D6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2953512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8B9AB0"/>
                </a:solidFill>
                <a:latin typeface="Segoe UI"/>
                <a:ea typeface="Segoe UI"/>
                <a:cs typeface="Segoe UI"/>
              </a:rPr>
              <a:t>02</a:t>
            </a:r>
            <a:endParaRPr sz="7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38107B2-8951-494B-9597-EF9C59D14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2926080"/>
            <a:ext cx="6675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4213A"/>
                </a:solidFill>
                <a:latin typeface="Segoe UI"/>
                <a:ea typeface="Segoe UI"/>
                <a:cs typeface="Segoe UI"/>
              </a:rPr>
              <a:t>Lift SQL to Independent</a:t>
            </a:r>
            <a:endParaRPr sz="13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C9FB1247-4A5F-4E41-870E-50F7318AA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3255264"/>
            <a:ext cx="6492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00">
                <a:solidFill>
                  <a:srgbClr val="46536B"/>
                </a:solidFill>
                <a:latin typeface="Segoe UI"/>
                <a:ea typeface="Segoe UI"/>
                <a:cs typeface="Segoe UI"/>
              </a:rPr>
              <a:t>The daily baseline for pulling data; practise alongside Python.</a:t>
            </a:r>
            <a:endParaRPr sz="100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E11CF34F-0AC7-4084-8833-3359DB19D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3986784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C9D5E6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F7C16E77-0AE2-465A-A817-832342A6B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3986784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8B9AB0"/>
                </a:solidFill>
                <a:latin typeface="Segoe UI"/>
                <a:ea typeface="Segoe UI"/>
                <a:cs typeface="Segoe UI"/>
              </a:rPr>
              <a:t>03</a:t>
            </a:r>
            <a:endParaRPr sz="75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95E29E38-0EA1-4B28-84C9-FB181C3A5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3959352"/>
            <a:ext cx="6675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4213A"/>
                </a:solidFill>
                <a:latin typeface="Segoe UI"/>
                <a:ea typeface="Segoe UI"/>
                <a:cs typeface="Segoe UI"/>
              </a:rPr>
              <a:t>Data analytics methods</a:t>
            </a:r>
            <a:endParaRPr sz="13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B6806DEB-6812-40E2-AC95-F34F51896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4288536"/>
            <a:ext cx="6492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00">
                <a:solidFill>
                  <a:srgbClr val="46536B"/>
                </a:solidFill>
                <a:latin typeface="Segoe UI"/>
                <a:ea typeface="Segoe UI"/>
                <a:cs typeface="Segoe UI"/>
              </a:rPr>
              <a:t>Connect tool skills to an analysis framework.</a:t>
            </a:r>
            <a:endParaRPr sz="100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047C9FBA-E8FC-4E69-9F4E-5DFBB098B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5020056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C9D5E6"/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C45F93C4-4194-483C-AED6-D3E05DAE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5020056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8B9AB0"/>
                </a:solidFill>
                <a:latin typeface="Segoe UI"/>
                <a:ea typeface="Segoe UI"/>
                <a:cs typeface="Segoe UI"/>
              </a:rPr>
              <a:t>04</a:t>
            </a:r>
            <a:endParaRPr sz="75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46A76098-7F44-45B0-A819-73C0A9FAA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4992624"/>
            <a:ext cx="6675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4213A"/>
                </a:solidFill>
                <a:latin typeface="Segoe UI"/>
                <a:ea typeface="Segoe UI"/>
                <a:cs typeface="Segoe UI"/>
              </a:rPr>
              <a:t>Data visualization</a:t>
            </a:r>
            <a:endParaRPr sz="135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E7C28A9E-47B0-4E88-B870-677731107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5321808"/>
            <a:ext cx="6492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00">
                <a:solidFill>
                  <a:srgbClr val="46536B"/>
                </a:solidFill>
                <a:latin typeface="Segoe UI"/>
                <a:ea typeface="Segoe UI"/>
                <a:cs typeface="Segoe UI"/>
              </a:rPr>
              <a:t>Make conclusions legible to everyone else.</a:t>
            </a:r>
            <a:endParaRPr sz="10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0BD9280F-BE90-48D8-97DD-77FC643F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6345936"/>
            <a:ext cx="8686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9AA7B8"/>
                </a:solidFill>
                <a:latin typeface="Segoe UI"/>
                <a:ea typeface="Segoe UI"/>
                <a:cs typeface="Segoe UI"/>
              </a:rPr>
              <a:t>CareerBridge  ·  careerbridge-ai-9whl.onrender.com</a:t>
            </a:r>
            <a:endParaRPr sz="8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E353D14C-31C4-475F-A787-D22A2BB6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345936"/>
            <a:ext cx="71323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9AA7B8"/>
                </a:solidFill>
                <a:latin typeface="Segoe UI"/>
                <a:ea typeface="Segoe UI"/>
                <a:cs typeface="Segoe UI"/>
              </a:rPr>
              <a:t>09</a:t>
            </a:r>
            <a:endParaRPr sz="850"/>
          </a:p>
        </p:txBody>
      </p:sp>
    </p:spTree>
    <p:extLst>
      <p:ext uri="{BB962C8B-B14F-4D97-AF65-F5344CB8AC3E}">
        <p14:creationId xmlns:p14="http://schemas.microsoft.com/office/powerpoint/2010/main" val="16749566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12507E6-3C1B-4B05-B72A-FB9AED9FA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66928"/>
            <a:ext cx="310896" cy="411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12700">
            <a:solidFill>
              <a:srgbClr val="2F6BFF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C6A239B-4931-4F3D-AC05-7F224C39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38912"/>
            <a:ext cx="8686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 spc="220">
                <a:solidFill>
                  <a:srgbClr val="2F6BFF"/>
                </a:solidFill>
                <a:latin typeface="Segoe UI"/>
                <a:ea typeface="Segoe UI"/>
                <a:cs typeface="Segoe UI"/>
              </a:rPr>
              <a:t>04   PRODUCT WALKTHROUGH  ·  1 OF 5</a:t>
            </a:r>
            <a:endParaRPr sz="9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0F618C2-3D91-4057-8659-DA1F8DBB1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841248"/>
            <a:ext cx="10607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4213A"/>
                </a:solidFill>
                <a:latin typeface="Segoe UI"/>
                <a:ea typeface="Segoe UI"/>
                <a:cs typeface="Segoe UI"/>
              </a:rPr>
              <a:t>Assessment: self-report or quiz — your call</a:t>
            </a:r>
            <a:endParaRPr sz="27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DCCF789-4A12-4DE0-9E8C-5E2A8C8BA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481328"/>
            <a:ext cx="104241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7A90"/>
                </a:solidFill>
                <a:latin typeface="Segoe UI"/>
                <a:ea typeface="Segoe UI"/>
                <a:cs typeface="Segoe UI"/>
              </a:rPr>
              <a:t>Step 1 of the loop  ·  the live /assessment page</a:t>
            </a:r>
            <a:endParaRPr sz="11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6BDB34D-BE34-48E1-95F1-434EA137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83080"/>
            <a:ext cx="3127248" cy="448056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9F2"/>
            </a:solidFill>
            <a:prstDash val="solid"/>
          </a:ln>
          <a:effectLst xmlns:a="http://schemas.openxmlformats.org/drawingml/2006/main">
            <a:outerShdw blurRad="152400" dist="19050" dir="5400000" algn="bl" rotWithShape="0">
              <a:srgbClr val="0B1B33">
                <a:alpha val="5000"/>
              </a:srgbClr>
            </a:outerShdw>
          </a:effectLst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106388F9-86E4-4771-A5C7-575B38C1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920240"/>
            <a:ext cx="77724" cy="77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5D6A"/>
          </a:solidFill>
          <a:ln xmlns:a="http://schemas.openxmlformats.org/drawingml/2006/main" w="12700">
            <a:solidFill>
              <a:srgbClr val="E35D6A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910557F-8124-466D-9BBD-ACA0E70C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1920240"/>
            <a:ext cx="77724" cy="77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B93E"/>
          </a:solidFill>
          <a:ln xmlns:a="http://schemas.openxmlformats.org/drawingml/2006/main" w="12700">
            <a:solidFill>
              <a:srgbClr val="E8B93E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B1165C4E-D5BD-4543-A05D-AB452EACC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1920240"/>
            <a:ext cx="77724" cy="77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B970"/>
          </a:solidFill>
          <a:ln xmlns:a="http://schemas.openxmlformats.org/drawingml/2006/main" w="12700">
            <a:solidFill>
              <a:srgbClr val="3FB970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BA85F86-E1DD-449F-9934-2FEFEEEE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1874520"/>
            <a:ext cx="2286000" cy="1828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2F7"/>
          </a:solidFill>
          <a:ln xmlns:a="http://schemas.openxmlformats.org/drawingml/2006/main" w="12700">
            <a:solidFill>
              <a:srgbClr val="EFF2F7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391A690-FC9E-45A1-B693-B7A73CF0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5336" y="1874520"/>
            <a:ext cx="20848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6B7A90"/>
                </a:solidFill>
                <a:latin typeface="Segoe UI"/>
                <a:ea typeface="Segoe UI"/>
                <a:cs typeface="Segoe UI"/>
              </a:rPr>
              <a:t>careerbridge-ai-9whl.onrender.com/assessment</a:t>
            </a:r>
            <a:endParaRPr sz="7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FF546FAD-976B-4098-AF20-59DA177E2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67128"/>
            <a:ext cx="3127248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9F2"/>
          </a:solidFill>
          <a:ln xmlns:a="http://schemas.openxmlformats.org/drawingml/2006/main" w="12700">
            <a:solidFill>
              <a:srgbClr val="E3E9F2"/>
            </a:solidFill>
            <a:prstDash val="solid"/>
          </a:ln>
        </p:spPr>
      </p:sp>
      <p:pic>
        <p:nvPicPr>
          <p:cNvPr id="13" name="Image 0">
            <a:extLst xmlns:a="http://schemas.openxmlformats.org/drawingml/2006/main">
              <a:ext uri="{FF2B5EF4-FFF2-40B4-BE49-F238E27FC236}">
                <a16:creationId xmlns:a16="http://schemas.microsoft.com/office/drawing/2014/main" id="{820B8F46-41D8-4F78-960A-F16ED92D88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dc955fc9ad4e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7003" y="2258568"/>
            <a:ext cx="2727722" cy="3895344"/>
          </a:xfrm>
          <a:prstGeom xmlns:a="http://schemas.openxmlformats.org/drawingml/2006/main" prst="rect">
            <a:avLst/>
          </a:prstGeom>
        </p:spPr>
      </p:pic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DA70681E-A222-4520-8105-CC0A6ACC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1828800"/>
            <a:ext cx="28346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2F6BFF"/>
                </a:solidFill>
                <a:latin typeface="Segoe UI"/>
                <a:ea typeface="Segoe UI"/>
                <a:cs typeface="Segoe UI"/>
              </a:rPr>
              <a:t>ON THIS SCREEN</a:t>
            </a:r>
            <a:endParaRPr sz="9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D113F286-E798-41B9-8170-3C3ECA3E1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221284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12700">
            <a:solidFill>
              <a:srgbClr val="2F6BFF"/>
            </a:solidFill>
            <a:prstDash val="solid"/>
          </a:ln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7AA46C8D-A6A8-45E1-B229-E896D754F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221284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  <a:endParaRPr sz="95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036C633F-F23B-43CF-B431-803308908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2185416"/>
            <a:ext cx="6309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4213A"/>
                </a:solidFill>
                <a:latin typeface="Segoe UI"/>
                <a:ea typeface="Segoe UI"/>
                <a:cs typeface="Segoe UI"/>
              </a:rPr>
              <a:t>Two methods, one switch</a:t>
            </a:r>
            <a:endParaRPr sz="135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F86FF012-D259-44D3-AF9B-849214C5B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2496312"/>
            <a:ext cx="6400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1050">
                <a:solidFill>
                  <a:srgbClr val="46536B"/>
                </a:solidFill>
                <a:latin typeface="Segoe UI"/>
                <a:ea typeface="Segoe UI"/>
                <a:cs typeface="Segoe UI"/>
              </a:rPr>
              <a:t>“I know my skills” self-report, or “Take a quick quiz” for verified evidence — switchable at any time.</a:t>
            </a:r>
            <a:endParaRPr sz="105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756DDDDB-7E3B-415F-B1CC-8B86D788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3035808"/>
            <a:ext cx="6309360" cy="73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5"/>
          </a:solidFill>
          <a:ln xmlns:a="http://schemas.openxmlformats.org/drawingml/2006/main" w="12700">
            <a:solidFill>
              <a:srgbClr val="E6ECF5"/>
            </a:solidFill>
            <a:prstDash val="solid"/>
          </a:ln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39C57C69-0E6C-43C7-91CF-D9629C331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3182112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12700">
            <a:solidFill>
              <a:srgbClr val="2F6BFF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DE40FE4D-DF80-41FE-AF92-E5F95E7E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3182112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  <a:endParaRPr sz="95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ABB2E35A-A975-445D-82C9-FB51A1EF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3154680"/>
            <a:ext cx="6309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4213A"/>
                </a:solidFill>
                <a:latin typeface="Segoe UI"/>
                <a:ea typeface="Segoe UI"/>
                <a:cs typeface="Segoe UI"/>
              </a:rPr>
              <a:t>Skills grouped by domain</a:t>
            </a:r>
            <a:endParaRPr sz="135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07D60E0A-7501-4556-A7F5-00ADA8030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3465576"/>
            <a:ext cx="6400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1050">
                <a:solidFill>
                  <a:srgbClr val="46536B"/>
                </a:solidFill>
                <a:latin typeface="Segoe UI"/>
                <a:ea typeface="Segoe UI"/>
                <a:cs typeface="Segoe UI"/>
              </a:rPr>
              <a:t>Technology, Product Design and more; every skill is opt-in via checkbox.</a:t>
            </a:r>
            <a:endParaRPr sz="105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860C6A8F-3A53-45F5-B871-ADFE169DA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4005072"/>
            <a:ext cx="6309360" cy="73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5"/>
          </a:solidFill>
          <a:ln xmlns:a="http://schemas.openxmlformats.org/drawingml/2006/main" w="12700">
            <a:solidFill>
              <a:srgbClr val="E6ECF5"/>
            </a:solidFill>
            <a:prstDash val="solid"/>
          </a:ln>
        </p:spPr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9B61B3D8-352C-4DEF-A26E-F22BB9217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415137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12700">
            <a:solidFill>
              <a:srgbClr val="2F6BFF"/>
            </a:solidFill>
            <a:prstDash val="solid"/>
          </a:ln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AE66A821-0D30-4765-9C74-DBDB68A69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4151376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  <a:endParaRPr sz="95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D14D6FD1-9757-4DE8-93E2-6C77BF08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4123944"/>
            <a:ext cx="6309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4213A"/>
                </a:solidFill>
                <a:latin typeface="Segoe UI"/>
                <a:ea typeface="Segoe UI"/>
                <a:cs typeface="Segoe UI"/>
              </a:rPr>
              <a:t>Honest framing up front</a:t>
            </a:r>
            <a:endParaRPr sz="135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31A97FD1-9E07-42CF-A7F6-095293AF3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4434840"/>
            <a:ext cx="6400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1050">
                <a:solidFill>
                  <a:srgbClr val="46536B"/>
                </a:solidFill>
                <a:latin typeface="Segoe UI"/>
                <a:ea typeface="Segoe UI"/>
                <a:cs typeface="Segoe UI"/>
              </a:rPr>
              <a:t>Stated on the page: evidence and limitations are shown; quizzes are not certifications.</a:t>
            </a:r>
            <a:endParaRPr sz="105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7EAA304A-72DC-4C57-B33A-6E632A0D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4974336"/>
            <a:ext cx="6309360" cy="73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5"/>
          </a:solidFill>
          <a:ln xmlns:a="http://schemas.openxmlformats.org/drawingml/2006/main" w="12700">
            <a:solidFill>
              <a:srgbClr val="E6ECF5"/>
            </a:solidFill>
            <a:prstDash val="solid"/>
          </a:ln>
        </p:spPr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5AD8651F-60EB-4EDD-AD92-6E62551B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5120640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12700">
            <a:solidFill>
              <a:srgbClr val="2F6BFF"/>
            </a:solidFill>
            <a:prstDash val="solid"/>
          </a:ln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BFF28FC5-CC60-4B37-B26C-9D34ADDA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5120640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</a:t>
            </a:r>
            <a:endParaRPr sz="95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0CE7081C-A511-4D85-9177-7EB5A576D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5093208"/>
            <a:ext cx="6309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4213A"/>
                </a:solidFill>
                <a:latin typeface="Segoe UI"/>
                <a:ea typeface="Segoe UI"/>
                <a:cs typeface="Segoe UI"/>
              </a:rPr>
              <a:t>Feeds the whole loop</a:t>
            </a:r>
            <a:endParaRPr sz="1350"/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4A1139A2-D052-4DEA-B203-F379308D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5404104"/>
            <a:ext cx="6400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1050">
                <a:solidFill>
                  <a:srgbClr val="46536B"/>
                </a:solidFill>
                <a:latin typeface="Segoe UI"/>
                <a:ea typeface="Segoe UI"/>
                <a:cs typeface="Segoe UI"/>
              </a:rPr>
              <a:t>Each assessed skill becomes level evidence the map, gaps and path all build on.</a:t>
            </a:r>
            <a:endParaRPr sz="1050"/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4A2D1DB6-D295-478F-BB50-E19CEB58B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6345936"/>
            <a:ext cx="8686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9AA7B8"/>
                </a:solidFill>
                <a:latin typeface="Segoe UI"/>
                <a:ea typeface="Segoe UI"/>
                <a:cs typeface="Segoe UI"/>
              </a:rPr>
              <a:t>CareerBridge  ·  careerbridge-ai-9whl.onrender.com</a:t>
            </a:r>
            <a:endParaRPr sz="800"/>
          </a:p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E1D1171E-7016-4BE9-B2BD-EF4F5E36B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345936"/>
            <a:ext cx="71323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9AA7B8"/>
                </a:solidFill>
                <a:latin typeface="Segoe UI"/>
                <a:ea typeface="Segoe UI"/>
                <a:cs typeface="Segoe UI"/>
              </a:rPr>
              <a:t>10</a:t>
            </a:r>
            <a:endParaRPr sz="850"/>
          </a:p>
        </p:txBody>
      </p:sp>
    </p:spTree>
    <p:extLst>
      <p:ext uri="{BB962C8B-B14F-4D97-AF65-F5344CB8AC3E}">
        <p14:creationId xmlns:p14="http://schemas.microsoft.com/office/powerpoint/2010/main" val="205369466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F37E5D8-CA28-4158-AB91-2443A91D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66928"/>
            <a:ext cx="310896" cy="411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12700">
            <a:solidFill>
              <a:srgbClr val="2F6BFF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BD62B2F-8658-4E78-AE6B-35F8BE28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38912"/>
            <a:ext cx="8686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 spc="220">
                <a:solidFill>
                  <a:srgbClr val="2F6BFF"/>
                </a:solidFill>
                <a:latin typeface="Segoe UI"/>
                <a:ea typeface="Segoe UI"/>
                <a:cs typeface="Segoe UI"/>
              </a:rPr>
              <a:t>04   PRODUCT WALKTHROUGH  ·  2 OF 5</a:t>
            </a:r>
            <a:endParaRPr sz="9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3DF579B-6622-48AD-8BD3-3EE799D2D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841248"/>
            <a:ext cx="10607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4213A"/>
                </a:solidFill>
                <a:latin typeface="Segoe UI"/>
                <a:ea typeface="Segoe UI"/>
                <a:cs typeface="Segoe UI"/>
              </a:rPr>
              <a:t>Overview: the whole decision on one screen</a:t>
            </a:r>
            <a:endParaRPr sz="27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E2045C9-F46C-47F9-85BA-CB48A6D8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481328"/>
            <a:ext cx="104241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7A90"/>
                </a:solidFill>
                <a:latin typeface="Segoe UI"/>
                <a:ea typeface="Segoe UI"/>
                <a:cs typeface="Segoe UI"/>
              </a:rPr>
              <a:t>Step 2 of the loop  ·  the live overview page</a:t>
            </a:r>
            <a:endParaRPr sz="11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C4492C0A-7284-461D-A808-0036B353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83080"/>
            <a:ext cx="3127248" cy="448056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9F2"/>
            </a:solidFill>
            <a:prstDash val="solid"/>
          </a:ln>
          <a:effectLst xmlns:a="http://schemas.openxmlformats.org/drawingml/2006/main">
            <a:outerShdw blurRad="152400" dist="19050" dir="5400000" algn="bl" rotWithShape="0">
              <a:srgbClr val="0B1B33">
                <a:alpha val="5000"/>
              </a:srgbClr>
            </a:outerShdw>
          </a:effectLst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140B6B6D-D504-4B71-B936-BB93711EA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920240"/>
            <a:ext cx="77724" cy="77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5D6A"/>
          </a:solidFill>
          <a:ln xmlns:a="http://schemas.openxmlformats.org/drawingml/2006/main" w="12700">
            <a:solidFill>
              <a:srgbClr val="E35D6A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D3E518D-DFAE-4809-ADF0-AADF0C4CF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1920240"/>
            <a:ext cx="77724" cy="77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B93E"/>
          </a:solidFill>
          <a:ln xmlns:a="http://schemas.openxmlformats.org/drawingml/2006/main" w="12700">
            <a:solidFill>
              <a:srgbClr val="E8B93E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F97452E4-83CF-4221-92CC-E5AC3E697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1920240"/>
            <a:ext cx="77724" cy="77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B970"/>
          </a:solidFill>
          <a:ln xmlns:a="http://schemas.openxmlformats.org/drawingml/2006/main" w="12700">
            <a:solidFill>
              <a:srgbClr val="3FB970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D5D9420-81D4-4B02-AFDB-DD8FBDADE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1874520"/>
            <a:ext cx="2286000" cy="1828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2F7"/>
          </a:solidFill>
          <a:ln xmlns:a="http://schemas.openxmlformats.org/drawingml/2006/main" w="12700">
            <a:solidFill>
              <a:srgbClr val="EFF2F7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E151822-E255-41F8-90C7-D38201723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5336" y="1874520"/>
            <a:ext cx="20848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6B7A90"/>
                </a:solidFill>
                <a:latin typeface="Segoe UI"/>
                <a:ea typeface="Segoe UI"/>
                <a:cs typeface="Segoe UI"/>
              </a:rPr>
              <a:t>careerbridge-ai-9whl.onrender.com/</a:t>
            </a:r>
            <a:endParaRPr sz="7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16E67015-0F5F-4413-A6DF-1E661D3EF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67128"/>
            <a:ext cx="3127248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9F2"/>
          </a:solidFill>
          <a:ln xmlns:a="http://schemas.openxmlformats.org/drawingml/2006/main" w="12700">
            <a:solidFill>
              <a:srgbClr val="E3E9F2"/>
            </a:solidFill>
            <a:prstDash val="solid"/>
          </a:ln>
        </p:spPr>
      </p:sp>
      <p:pic>
        <p:nvPicPr>
          <p:cNvPr id="13" name="Image 0">
            <a:extLst xmlns:a="http://schemas.openxmlformats.org/drawingml/2006/main">
              <a:ext uri="{FF2B5EF4-FFF2-40B4-BE49-F238E27FC236}">
                <a16:creationId xmlns:a16="http://schemas.microsoft.com/office/drawing/2014/main" id="{575786B4-D6FC-4AD6-BAA6-0BA60AFAD5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7c575ee78e47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7003" y="2258568"/>
            <a:ext cx="2727722" cy="3895344"/>
          </a:xfrm>
          <a:prstGeom xmlns:a="http://schemas.openxmlformats.org/drawingml/2006/main" prst="rect">
            <a:avLst/>
          </a:prstGeom>
        </p:spPr>
      </p:pic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991BA88-2FC8-46EE-B352-3B1985A1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1828800"/>
            <a:ext cx="28346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2F6BFF"/>
                </a:solidFill>
                <a:latin typeface="Segoe UI"/>
                <a:ea typeface="Segoe UI"/>
                <a:cs typeface="Segoe UI"/>
              </a:rPr>
              <a:t>ON THIS SCREEN</a:t>
            </a:r>
            <a:endParaRPr sz="9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24DAC301-DE1F-4316-B757-A8D1CFD2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221284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12700">
            <a:solidFill>
              <a:srgbClr val="2F6BFF"/>
            </a:solidFill>
            <a:prstDash val="solid"/>
          </a:ln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F1909ECB-3B63-49BB-974D-FD28B560D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221284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  <a:endParaRPr sz="95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14EF99A4-9139-4493-A0A2-6B66722B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2185416"/>
            <a:ext cx="6309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4213A"/>
                </a:solidFill>
                <a:latin typeface="Segoe UI"/>
                <a:ea typeface="Segoe UI"/>
                <a:cs typeface="Segoe UI"/>
              </a:rPr>
              <a:t>62% assessed alignment</a:t>
            </a:r>
            <a:endParaRPr sz="135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D1C1416E-7369-49FC-9E20-5D9D78AD3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2496312"/>
            <a:ext cx="6400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1050">
                <a:solidFill>
                  <a:srgbClr val="46536B"/>
                </a:solidFill>
                <a:latin typeface="Segoe UI"/>
                <a:ea typeface="Segoe UI"/>
                <a:cs typeface="Segoe UI"/>
              </a:rPr>
              <a:t>Donut averages min(current, required) across assessed skills — here 7/7 assessed.</a:t>
            </a:r>
            <a:endParaRPr sz="105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39BD5C47-898B-4324-87C8-715588CC0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3035808"/>
            <a:ext cx="6309360" cy="73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5"/>
          </a:solidFill>
          <a:ln xmlns:a="http://schemas.openxmlformats.org/drawingml/2006/main" w="12700">
            <a:solidFill>
              <a:srgbClr val="E6ECF5"/>
            </a:solidFill>
            <a:prstDash val="solid"/>
          </a:ln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53FDA537-C2A3-4B0B-BA78-59C77FCE0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3182112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12700">
            <a:solidFill>
              <a:srgbClr val="2F6BFF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1DF13993-0980-4DB6-8835-D8E2A863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3182112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  <a:endParaRPr sz="95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C39A41E6-FB87-4DDC-8E0D-3D46275D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3154680"/>
            <a:ext cx="6309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4213A"/>
                </a:solidFill>
                <a:latin typeface="Segoe UI"/>
                <a:ea typeface="Segoe UI"/>
                <a:cs typeface="Segoe UI"/>
              </a:rPr>
              <a:t>100% profile coverage</a:t>
            </a:r>
            <a:endParaRPr sz="135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BC1D050E-CA6D-4EFA-8740-C3C5CE872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3465576"/>
            <a:ext cx="6400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1050">
                <a:solidFill>
                  <a:srgbClr val="46536B"/>
                </a:solidFill>
                <a:latin typeface="Segoe UI"/>
                <a:ea typeface="Segoe UI"/>
                <a:cs typeface="Segoe UI"/>
              </a:rPr>
              <a:t>Unassessed skills count toward coverage and are never scored as zero.</a:t>
            </a:r>
            <a:endParaRPr sz="105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F2D2F918-5DB5-47AB-B9C0-415D2463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4005072"/>
            <a:ext cx="6309360" cy="73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5"/>
          </a:solidFill>
          <a:ln xmlns:a="http://schemas.openxmlformats.org/drawingml/2006/main" w="12700">
            <a:solidFill>
              <a:srgbClr val="E6ECF5"/>
            </a:solidFill>
            <a:prstDash val="solid"/>
          </a:ln>
        </p:spPr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74AA1C1C-415F-4354-A562-60DABB353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415137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12700">
            <a:solidFill>
              <a:srgbClr val="2F6BFF"/>
            </a:solidFill>
            <a:prstDash val="solid"/>
          </a:ln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775E0DDC-4A95-4588-91F8-3045F4F1E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4151376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  <a:endParaRPr sz="95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D4CE42C9-799B-4270-A2D5-9EF76D5C8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4123944"/>
            <a:ext cx="6309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4213A"/>
                </a:solidFill>
                <a:latin typeface="Segoe UI"/>
                <a:ea typeface="Segoe UI"/>
                <a:cs typeface="Segoe UI"/>
              </a:rPr>
              <a:t>6 known gaps</a:t>
            </a:r>
            <a:endParaRPr sz="135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27B941E5-B496-4D72-85AA-4E5C34BD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4434840"/>
            <a:ext cx="6400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1050">
                <a:solidFill>
                  <a:srgbClr val="46536B"/>
                </a:solidFill>
                <a:latin typeface="Segoe UI"/>
                <a:ea typeface="Segoe UI"/>
                <a:cs typeface="Segoe UI"/>
              </a:rPr>
              <a:t>“Skills to develop” measures the distance to the target role: Data Analyst.</a:t>
            </a:r>
            <a:endParaRPr sz="105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822764F5-A96E-413B-88C8-95366CE1B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4974336"/>
            <a:ext cx="6309360" cy="73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5"/>
          </a:solidFill>
          <a:ln xmlns:a="http://schemas.openxmlformats.org/drawingml/2006/main" w="12700">
            <a:solidFill>
              <a:srgbClr val="E6ECF5"/>
            </a:solidFill>
            <a:prstDash val="solid"/>
          </a:ln>
        </p:spPr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FC0DE65C-B8C4-4436-92D0-AFDB3D202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5120640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12700">
            <a:solidFill>
              <a:srgbClr val="2F6BFF"/>
            </a:solidFill>
            <a:prstDash val="solid"/>
          </a:ln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D2491292-9FC5-417E-8F70-42AA7B219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5120640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</a:t>
            </a:r>
            <a:endParaRPr sz="95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264DA4F7-2D30-46EE-810B-96C76AE2D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5093208"/>
            <a:ext cx="6309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4213A"/>
                </a:solidFill>
                <a:latin typeface="Segoe UI"/>
                <a:ea typeface="Segoe UI"/>
                <a:cs typeface="Segoe UI"/>
              </a:rPr>
              <a:t>Two clear next actions</a:t>
            </a:r>
            <a:endParaRPr sz="1350"/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37EDE345-54E1-4BB6-B2EC-0F1737F78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5404104"/>
            <a:ext cx="6400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1050">
                <a:solidFill>
                  <a:srgbClr val="46536B"/>
                </a:solidFill>
                <a:latin typeface="Segoe UI"/>
                <a:ea typeface="Segoe UI"/>
                <a:cs typeface="Segoe UI"/>
              </a:rPr>
              <a:t>Start an assessment, or jump straight to the learning path.</a:t>
            </a:r>
            <a:endParaRPr sz="1050"/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37AB9D31-BC83-4EE9-9E30-496939A62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6345936"/>
            <a:ext cx="8686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9AA7B8"/>
                </a:solidFill>
                <a:latin typeface="Segoe UI"/>
                <a:ea typeface="Segoe UI"/>
                <a:cs typeface="Segoe UI"/>
              </a:rPr>
              <a:t>CareerBridge  ·  careerbridge-ai-9whl.onrender.com</a:t>
            </a:r>
            <a:endParaRPr sz="800"/>
          </a:p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C2ADDB2C-AE40-4A02-B7FA-D002D56EF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345936"/>
            <a:ext cx="71323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9AA7B8"/>
                </a:solidFill>
                <a:latin typeface="Segoe UI"/>
                <a:ea typeface="Segoe UI"/>
                <a:cs typeface="Segoe UI"/>
              </a:rPr>
              <a:t>11</a:t>
            </a:r>
            <a:endParaRPr sz="850"/>
          </a:p>
        </p:txBody>
      </p:sp>
    </p:spTree>
    <p:extLst>
      <p:ext uri="{BB962C8B-B14F-4D97-AF65-F5344CB8AC3E}">
        <p14:creationId xmlns:p14="http://schemas.microsoft.com/office/powerpoint/2010/main" val="107082580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E71FCD2-7F6E-426B-953C-F8F35FEA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66928"/>
            <a:ext cx="310896" cy="411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12700">
            <a:solidFill>
              <a:srgbClr val="2F6BFF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F3DF2EE-0A6A-484F-8829-93E7E1A06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38912"/>
            <a:ext cx="8686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 spc="220">
                <a:solidFill>
                  <a:srgbClr val="2F6BFF"/>
                </a:solidFill>
                <a:latin typeface="Segoe UI"/>
                <a:ea typeface="Segoe UI"/>
                <a:cs typeface="Segoe UI"/>
              </a:rPr>
              <a:t>04   PRODUCT WALKTHROUGH  ·  3 OF 5</a:t>
            </a:r>
            <a:endParaRPr sz="9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2D5C5F6-CFEF-403E-8D00-D9D11D75A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841248"/>
            <a:ext cx="10607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4213A"/>
                </a:solidFill>
                <a:latin typeface="Segoe UI"/>
                <a:ea typeface="Segoe UI"/>
                <a:cs typeface="Segoe UI"/>
              </a:rPr>
              <a:t>Gap analysis, printed with its own math</a:t>
            </a:r>
            <a:endParaRPr sz="27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21BDD65-FCA9-4CD7-AE16-FEF127F83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481328"/>
            <a:ext cx="104241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7A90"/>
                </a:solidFill>
                <a:latin typeface="Segoe UI"/>
                <a:ea typeface="Segoe UI"/>
                <a:cs typeface="Segoe UI"/>
              </a:rPr>
              <a:t>Step 3 of the loop  ·  overview, “Role skill gaps” section</a:t>
            </a:r>
            <a:endParaRPr sz="11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D22AEDA-11F3-496A-B9E0-0BF74571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83080"/>
            <a:ext cx="3127248" cy="448056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9F2"/>
            </a:solidFill>
            <a:prstDash val="solid"/>
          </a:ln>
          <a:effectLst xmlns:a="http://schemas.openxmlformats.org/drawingml/2006/main">
            <a:outerShdw blurRad="152400" dist="19050" dir="5400000" algn="bl" rotWithShape="0">
              <a:srgbClr val="0B1B33">
                <a:alpha val="5000"/>
              </a:srgbClr>
            </a:outerShdw>
          </a:effectLst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776F3D31-D55C-4EC5-850F-6E78EA2A2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920240"/>
            <a:ext cx="77724" cy="77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5D6A"/>
          </a:solidFill>
          <a:ln xmlns:a="http://schemas.openxmlformats.org/drawingml/2006/main" w="12700">
            <a:solidFill>
              <a:srgbClr val="E35D6A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781924A-577A-4463-8EC7-24C882231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1920240"/>
            <a:ext cx="77724" cy="77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B93E"/>
          </a:solidFill>
          <a:ln xmlns:a="http://schemas.openxmlformats.org/drawingml/2006/main" w="12700">
            <a:solidFill>
              <a:srgbClr val="E8B93E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E2B38DE7-3D93-47F6-96DA-60F83D20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1920240"/>
            <a:ext cx="77724" cy="77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B970"/>
          </a:solidFill>
          <a:ln xmlns:a="http://schemas.openxmlformats.org/drawingml/2006/main" w="12700">
            <a:solidFill>
              <a:srgbClr val="3FB970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CBD7F86D-0684-4BEF-83D0-DD71A0D03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1874520"/>
            <a:ext cx="2286000" cy="1828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2F7"/>
          </a:solidFill>
          <a:ln xmlns:a="http://schemas.openxmlformats.org/drawingml/2006/main" w="12700">
            <a:solidFill>
              <a:srgbClr val="EFF2F7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910AADB-6D71-40E6-971B-6D0E3B0D6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5336" y="1874520"/>
            <a:ext cx="20848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6B7A90"/>
                </a:solidFill>
                <a:latin typeface="Segoe UI"/>
                <a:ea typeface="Segoe UI"/>
                <a:cs typeface="Segoe UI"/>
              </a:rPr>
              <a:t>careerbridge-ai-9whl.onrender.com/</a:t>
            </a:r>
            <a:endParaRPr sz="7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60C07201-514D-4868-9C11-88E7DEB76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67128"/>
            <a:ext cx="3127248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9F2"/>
          </a:solidFill>
          <a:ln xmlns:a="http://schemas.openxmlformats.org/drawingml/2006/main" w="12700">
            <a:solidFill>
              <a:srgbClr val="E3E9F2"/>
            </a:solidFill>
            <a:prstDash val="solid"/>
          </a:ln>
        </p:spPr>
      </p:sp>
      <p:pic>
        <p:nvPicPr>
          <p:cNvPr id="13" name="Image 0">
            <a:extLst xmlns:a="http://schemas.openxmlformats.org/drawingml/2006/main">
              <a:ext uri="{FF2B5EF4-FFF2-40B4-BE49-F238E27FC236}">
                <a16:creationId xmlns:a16="http://schemas.microsoft.com/office/drawing/2014/main" id="{533C211F-4FE0-4218-893F-10774C8E75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6ca09da0454f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7003" y="2258568"/>
            <a:ext cx="2727722" cy="3895344"/>
          </a:xfrm>
          <a:prstGeom xmlns:a="http://schemas.openxmlformats.org/drawingml/2006/main" prst="rect">
            <a:avLst/>
          </a:prstGeom>
        </p:spPr>
      </p:pic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97BC3866-3E42-4206-8702-CDB3CCC9C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1828800"/>
            <a:ext cx="28346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2F6BFF"/>
                </a:solidFill>
                <a:latin typeface="Segoe UI"/>
                <a:ea typeface="Segoe UI"/>
                <a:cs typeface="Segoe UI"/>
              </a:rPr>
              <a:t>ON THIS SCREEN</a:t>
            </a:r>
            <a:endParaRPr sz="9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F3E4ACB7-D817-4E9B-BF5B-AFC29CE50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221284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12700">
            <a:solidFill>
              <a:srgbClr val="2F6BFF"/>
            </a:solidFill>
            <a:prstDash val="solid"/>
          </a:ln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4B968DB7-4CAB-4387-A587-57AB9FC46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221284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  <a:endParaRPr sz="95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F0202BC7-F4DC-4CFC-8CED-FD356EA7E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2185416"/>
            <a:ext cx="6309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4213A"/>
                </a:solidFill>
                <a:latin typeface="Segoe UI"/>
                <a:ea typeface="Segoe UI"/>
                <a:cs typeface="Segoe UI"/>
              </a:rPr>
              <a:t>Gaps stated in levels</a:t>
            </a:r>
            <a:endParaRPr sz="135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39F6F66A-865C-4C8D-9F64-1ECD8138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2496312"/>
            <a:ext cx="6400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1050">
                <a:solidFill>
                  <a:srgbClr val="46536B"/>
                </a:solidFill>
                <a:latin typeface="Segoe UI"/>
                <a:ea typeface="Segoe UI"/>
                <a:cs typeface="Segoe UI"/>
              </a:rPr>
              <a:t>Python is 2 levels below; SQL, analytics and visualization each 1 level below.</a:t>
            </a:r>
            <a:endParaRPr sz="105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153D99F8-F4DC-4CEF-A386-0A62687CA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3035808"/>
            <a:ext cx="6309360" cy="73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5"/>
          </a:solidFill>
          <a:ln xmlns:a="http://schemas.openxmlformats.org/drawingml/2006/main" w="12700">
            <a:solidFill>
              <a:srgbClr val="E6ECF5"/>
            </a:solidFill>
            <a:prstDash val="solid"/>
          </a:ln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88C888D-D659-4A72-8F00-570AD90D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3182112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12700">
            <a:solidFill>
              <a:srgbClr val="2F6BFF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8F090B81-BE6E-4A1B-8AB2-3F180D594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3182112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  <a:endParaRPr sz="95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8DBA0C3-34B2-4DC1-9AA3-DB358214C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3154680"/>
            <a:ext cx="6309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4213A"/>
                </a:solidFill>
                <a:latin typeface="Segoe UI"/>
                <a:ea typeface="Segoe UI"/>
                <a:cs typeface="Segoe UI"/>
              </a:rPr>
              <a:t>Both sides shown</a:t>
            </a:r>
            <a:endParaRPr sz="135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4C047AFB-757F-45C7-98C1-F6A2F3895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3465576"/>
            <a:ext cx="6400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1050">
                <a:solidFill>
                  <a:srgbClr val="46536B"/>
                </a:solidFill>
                <a:latin typeface="Segoe UI"/>
                <a:ea typeface="Segoe UI"/>
                <a:cs typeface="Segoe UI"/>
              </a:rPr>
              <a:t>Every row: “Current Beginner · Role requirement Independent” — nothing hidden.</a:t>
            </a:r>
            <a:endParaRPr sz="105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390DCDE5-1671-4699-BDCA-686668382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4005072"/>
            <a:ext cx="6309360" cy="73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5"/>
          </a:solidFill>
          <a:ln xmlns:a="http://schemas.openxmlformats.org/drawingml/2006/main" w="12700">
            <a:solidFill>
              <a:srgbClr val="E6ECF5"/>
            </a:solidFill>
            <a:prstDash val="solid"/>
          </a:ln>
        </p:spPr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EE524372-56F2-4B51-BAC2-F9AAAED57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415137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12700">
            <a:solidFill>
              <a:srgbClr val="2F6BFF"/>
            </a:solidFill>
            <a:prstDash val="solid"/>
          </a:ln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C1CAF16F-5387-41DA-8465-62719649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4151376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  <a:endParaRPr sz="95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281A4780-7A99-4F49-A2A0-5730976D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4123944"/>
            <a:ext cx="6309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4213A"/>
                </a:solidFill>
                <a:latin typeface="Segoe UI"/>
                <a:ea typeface="Segoe UI"/>
                <a:cs typeface="Segoe UI"/>
              </a:rPr>
              <a:t>Method on the page</a:t>
            </a:r>
            <a:endParaRPr sz="135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250570FC-ABAD-4C3D-8B18-321749035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4434840"/>
            <a:ext cx="6400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1050">
                <a:solidFill>
                  <a:srgbClr val="46536B"/>
                </a:solidFill>
                <a:latin typeface="Segoe UI"/>
                <a:ea typeface="Segoe UI"/>
                <a:cs typeface="Segoe UI"/>
              </a:rPr>
              <a:t>The comparison formula and its limits are printed right above the list.</a:t>
            </a:r>
            <a:endParaRPr sz="105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8234C1E0-4580-4D8D-9879-573C40DE7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4974336"/>
            <a:ext cx="6309360" cy="73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5"/>
          </a:solidFill>
          <a:ln xmlns:a="http://schemas.openxmlformats.org/drawingml/2006/main" w="12700">
            <a:solidFill>
              <a:srgbClr val="E6ECF5"/>
            </a:solidFill>
            <a:prstDash val="solid"/>
          </a:ln>
        </p:spPr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B8B4C7D3-5EB0-4D98-8BAD-C0E46C4B7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5120640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12700">
            <a:solidFill>
              <a:srgbClr val="2F6BFF"/>
            </a:solidFill>
            <a:prstDash val="solid"/>
          </a:ln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1040599E-BABE-4189-AECE-F3CBD7434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5120640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</a:t>
            </a:r>
            <a:endParaRPr sz="95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76381F72-0FF8-457F-9C6D-81630920E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5093208"/>
            <a:ext cx="6309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4213A"/>
                </a:solidFill>
                <a:latin typeface="Segoe UI"/>
                <a:ea typeface="Segoe UI"/>
                <a:cs typeface="Segoe UI"/>
              </a:rPr>
              <a:t>Next step suggested</a:t>
            </a:r>
            <a:endParaRPr sz="1350"/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A19FD20D-C711-4C60-809F-4D0CCE6E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5404104"/>
            <a:ext cx="6400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1050">
                <a:solidFill>
                  <a:srgbClr val="46536B"/>
                </a:solidFill>
                <a:latin typeface="Segoe UI"/>
                <a:ea typeface="Segoe UI"/>
                <a:cs typeface="Segoe UI"/>
              </a:rPr>
              <a:t>“Start with Python to close the gap” — prioritized, editable, never locked.</a:t>
            </a:r>
            <a:endParaRPr sz="1050"/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0D5433C1-2B30-48F2-82C4-BBC6FB962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6345936"/>
            <a:ext cx="8686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9AA7B8"/>
                </a:solidFill>
                <a:latin typeface="Segoe UI"/>
                <a:ea typeface="Segoe UI"/>
                <a:cs typeface="Segoe UI"/>
              </a:rPr>
              <a:t>CareerBridge  ·  careerbridge-ai-9whl.onrender.com</a:t>
            </a:r>
            <a:endParaRPr sz="800"/>
          </a:p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27CEA539-0F2C-452B-A24A-C78DF301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345936"/>
            <a:ext cx="71323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9AA7B8"/>
                </a:solidFill>
                <a:latin typeface="Segoe UI"/>
                <a:ea typeface="Segoe UI"/>
                <a:cs typeface="Segoe UI"/>
              </a:rPr>
              <a:t>12</a:t>
            </a:r>
            <a:endParaRPr sz="850"/>
          </a:p>
        </p:txBody>
      </p:sp>
    </p:spTree>
    <p:extLst>
      <p:ext uri="{BB962C8B-B14F-4D97-AF65-F5344CB8AC3E}">
        <p14:creationId xmlns:p14="http://schemas.microsoft.com/office/powerpoint/2010/main" val="190568919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C04AFF9-9B3D-4FEC-A1E0-60AB2947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66928"/>
            <a:ext cx="310896" cy="411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12700">
            <a:solidFill>
              <a:srgbClr val="2F6BFF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DFA9E18-C9C1-4DD9-B613-D8384C3E2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38912"/>
            <a:ext cx="8686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 spc="220">
                <a:solidFill>
                  <a:srgbClr val="2F6BFF"/>
                </a:solidFill>
                <a:latin typeface="Segoe UI"/>
                <a:ea typeface="Segoe UI"/>
                <a:cs typeface="Segoe UI"/>
              </a:rPr>
              <a:t>04   PRODUCT WALKTHROUGH  ·  4 OF 5</a:t>
            </a:r>
            <a:endParaRPr sz="9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41998B3-3C30-4476-88A7-D300AF345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841248"/>
            <a:ext cx="10607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4213A"/>
                </a:solidFill>
                <a:latin typeface="Segoe UI"/>
                <a:ea typeface="Segoe UI"/>
                <a:cs typeface="Segoe UI"/>
              </a:rPr>
              <a:t>Learning path: tasks with hours and evidence</a:t>
            </a:r>
            <a:endParaRPr sz="27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EA04EFD-3A25-40B7-99F5-0547798AE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481328"/>
            <a:ext cx="104241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7A90"/>
                </a:solidFill>
                <a:latin typeface="Segoe UI"/>
                <a:ea typeface="Segoe UI"/>
                <a:cs typeface="Segoe UI"/>
              </a:rPr>
              <a:t>Step 4 of the loop  ·  the live /learning-path page</a:t>
            </a:r>
            <a:endParaRPr sz="11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9A1CFB50-D2BA-4FE6-8B10-857CEE22C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83080"/>
            <a:ext cx="3127248" cy="448056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9F2"/>
            </a:solidFill>
            <a:prstDash val="solid"/>
          </a:ln>
          <a:effectLst xmlns:a="http://schemas.openxmlformats.org/drawingml/2006/main">
            <a:outerShdw blurRad="152400" dist="19050" dir="5400000" algn="bl" rotWithShape="0">
              <a:srgbClr val="0B1B33">
                <a:alpha val="5000"/>
              </a:srgbClr>
            </a:outerShdw>
          </a:effectLst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51A05FD-9584-452E-8BD8-F205781D9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920240"/>
            <a:ext cx="77724" cy="77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5D6A"/>
          </a:solidFill>
          <a:ln xmlns:a="http://schemas.openxmlformats.org/drawingml/2006/main" w="12700">
            <a:solidFill>
              <a:srgbClr val="E35D6A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B27FEC0F-D99E-4428-BCA1-19BBCD2B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1920240"/>
            <a:ext cx="77724" cy="77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B93E"/>
          </a:solidFill>
          <a:ln xmlns:a="http://schemas.openxmlformats.org/drawingml/2006/main" w="12700">
            <a:solidFill>
              <a:srgbClr val="E8B93E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2A42F1F-FBBD-47C5-85DA-7620E2C9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1920240"/>
            <a:ext cx="77724" cy="77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B970"/>
          </a:solidFill>
          <a:ln xmlns:a="http://schemas.openxmlformats.org/drawingml/2006/main" w="12700">
            <a:solidFill>
              <a:srgbClr val="3FB970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C428364-354A-482C-B61B-BD2D00C5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1874520"/>
            <a:ext cx="2286000" cy="1828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2F7"/>
          </a:solidFill>
          <a:ln xmlns:a="http://schemas.openxmlformats.org/drawingml/2006/main" w="12700">
            <a:solidFill>
              <a:srgbClr val="EFF2F7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0E9FC11-AA05-4542-9F6D-17DA3B9D0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5336" y="1874520"/>
            <a:ext cx="20848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6B7A90"/>
                </a:solidFill>
                <a:latin typeface="Segoe UI"/>
                <a:ea typeface="Segoe UI"/>
                <a:cs typeface="Segoe UI"/>
              </a:rPr>
              <a:t>careerbridge-ai-9whl.onrender.com/learning-path</a:t>
            </a:r>
            <a:endParaRPr sz="7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39212209-22C9-4356-BE62-F4A5303BB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67128"/>
            <a:ext cx="3127248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9F2"/>
          </a:solidFill>
          <a:ln xmlns:a="http://schemas.openxmlformats.org/drawingml/2006/main" w="12700">
            <a:solidFill>
              <a:srgbClr val="E3E9F2"/>
            </a:solidFill>
            <a:prstDash val="solid"/>
          </a:ln>
        </p:spPr>
      </p:sp>
      <p:pic>
        <p:nvPicPr>
          <p:cNvPr id="13" name="Image 0">
            <a:extLst xmlns:a="http://schemas.openxmlformats.org/drawingml/2006/main">
              <a:ext uri="{FF2B5EF4-FFF2-40B4-BE49-F238E27FC236}">
                <a16:creationId xmlns:a16="http://schemas.microsoft.com/office/drawing/2014/main" id="{BC8E4831-EBE9-460B-A775-607C305AF5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133aff31ac48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7003" y="2258568"/>
            <a:ext cx="2727722" cy="3895344"/>
          </a:xfrm>
          <a:prstGeom xmlns:a="http://schemas.openxmlformats.org/drawingml/2006/main" prst="rect">
            <a:avLst/>
          </a:prstGeom>
        </p:spPr>
      </p:pic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49400519-9F06-47B4-8E51-C821A21DA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1828800"/>
            <a:ext cx="28346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2F6BFF"/>
                </a:solidFill>
                <a:latin typeface="Segoe UI"/>
                <a:ea typeface="Segoe UI"/>
                <a:cs typeface="Segoe UI"/>
              </a:rPr>
              <a:t>ON THIS SCREEN</a:t>
            </a:r>
            <a:endParaRPr sz="9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8EC81DB5-EDDD-4969-8C27-10D9076B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221284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12700">
            <a:solidFill>
              <a:srgbClr val="2F6BFF"/>
            </a:solidFill>
            <a:prstDash val="solid"/>
          </a:ln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E454CD07-8A11-425B-BD29-A2B9D9B3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221284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  <a:endParaRPr sz="95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1BC7F935-A40F-4E2C-9931-530963E13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2185416"/>
            <a:ext cx="6309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4213A"/>
                </a:solidFill>
                <a:latin typeface="Segoe UI"/>
                <a:ea typeface="Segoe UI"/>
                <a:cs typeface="Segoe UI"/>
              </a:rPr>
              <a:t>Sized to your week</a:t>
            </a:r>
            <a:endParaRPr sz="135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AFC1E21-49C9-4004-A091-E6D57C76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2496312"/>
            <a:ext cx="6400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1050">
                <a:solidFill>
                  <a:srgbClr val="46536B"/>
                </a:solidFill>
                <a:latin typeface="Segoe UI"/>
                <a:ea typeface="Segoe UI"/>
                <a:cs typeface="Segoe UI"/>
              </a:rPr>
              <a:t>4 estimated weeks at 5 hours per week; progress tracked as 0/4 tasks.</a:t>
            </a:r>
            <a:endParaRPr sz="105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056C1AB6-B664-4FFD-BCA4-CF1F2273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3035808"/>
            <a:ext cx="6309360" cy="73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5"/>
          </a:solidFill>
          <a:ln xmlns:a="http://schemas.openxmlformats.org/drawingml/2006/main" w="12700">
            <a:solidFill>
              <a:srgbClr val="E6ECF5"/>
            </a:solidFill>
            <a:prstDash val="solid"/>
          </a:ln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60B3C520-DDEC-4128-B8E7-09F43466E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3182112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12700">
            <a:solidFill>
              <a:srgbClr val="2F6BFF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F60CF0C0-142E-4102-9305-9AB915C5A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3182112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  <a:endParaRPr sz="95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2F34A82C-9CC7-42FD-81D9-728980A72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3154680"/>
            <a:ext cx="6309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4213A"/>
                </a:solidFill>
                <a:latin typeface="Segoe UI"/>
                <a:ea typeface="Segoe UI"/>
                <a:cs typeface="Segoe UI"/>
              </a:rPr>
              <a:t>Each task has an action</a:t>
            </a:r>
            <a:endParaRPr sz="135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01A999D2-627E-4DFD-A637-180C4888F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3465576"/>
            <a:ext cx="6400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1050">
                <a:solidFill>
                  <a:srgbClr val="46536B"/>
                </a:solidFill>
                <a:latin typeface="Segoe UI"/>
                <a:ea typeface="Segoe UI"/>
                <a:cs typeface="Segoe UI"/>
              </a:rPr>
              <a:t>Python task: clean a small CSV in a notebook and submit a reproducible result.</a:t>
            </a:r>
            <a:endParaRPr sz="105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F5A08BEB-3E34-45F0-9F48-FCCE833E1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4005072"/>
            <a:ext cx="6309360" cy="73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5"/>
          </a:solidFill>
          <a:ln xmlns:a="http://schemas.openxmlformats.org/drawingml/2006/main" w="12700">
            <a:solidFill>
              <a:srgbClr val="E6ECF5"/>
            </a:solidFill>
            <a:prstDash val="solid"/>
          </a:ln>
        </p:spPr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E29683B8-40E3-4C13-A12C-4D7E196BA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415137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12700">
            <a:solidFill>
              <a:srgbClr val="2F6BFF"/>
            </a:solidFill>
            <a:prstDash val="solid"/>
          </a:ln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5248D580-950A-47E2-A5B6-81C1DF772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4151376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  <a:endParaRPr sz="95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2158A691-C824-470A-A5ED-1630F2FA2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4123944"/>
            <a:ext cx="6309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4213A"/>
                </a:solidFill>
                <a:latin typeface="Segoe UI"/>
                <a:ea typeface="Segoe UI"/>
                <a:cs typeface="Segoe UI"/>
              </a:rPr>
              <a:t>Resources with check dates</a:t>
            </a:r>
            <a:endParaRPr sz="135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A30A7950-0089-44E4-B6EE-F05FCE9A1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4434840"/>
            <a:ext cx="6400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1050">
                <a:solidFill>
                  <a:srgbClr val="46536B"/>
                </a:solidFill>
                <a:latin typeface="Segoe UI"/>
                <a:ea typeface="Segoe UI"/>
                <a:cs typeface="Segoe UI"/>
              </a:rPr>
              <a:t>Course, book and Kaggle practice — each stamped “checked 2026-10-23”.</a:t>
            </a:r>
            <a:endParaRPr sz="105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617DF0B1-FA32-4CBF-91E8-4E7EF103A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4974336"/>
            <a:ext cx="6309360" cy="73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5"/>
          </a:solidFill>
          <a:ln xmlns:a="http://schemas.openxmlformats.org/drawingml/2006/main" w="12700">
            <a:solidFill>
              <a:srgbClr val="E6ECF5"/>
            </a:solidFill>
            <a:prstDash val="solid"/>
          </a:ln>
        </p:spPr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E41B7A47-9F54-42E1-A50E-29459108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5120640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12700">
            <a:solidFill>
              <a:srgbClr val="2F6BFF"/>
            </a:solidFill>
            <a:prstDash val="solid"/>
          </a:ln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3E73FE7D-8CF6-4239-A92D-22098096D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5120640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</a:t>
            </a:r>
            <a:endParaRPr sz="95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DD5CB37B-61D7-4EF4-A922-DB47359AD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5093208"/>
            <a:ext cx="6309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4213A"/>
                </a:solidFill>
                <a:latin typeface="Segoe UI"/>
                <a:ea typeface="Segoe UI"/>
                <a:cs typeface="Segoe UI"/>
              </a:rPr>
              <a:t>Reorder or regenerate</a:t>
            </a:r>
            <a:endParaRPr sz="1350"/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2FCF2126-6851-4DCA-B440-D3F48E88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5404104"/>
            <a:ext cx="6400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1050">
                <a:solidFill>
                  <a:srgbClr val="46536B"/>
                </a:solidFill>
                <a:latin typeface="Segoe UI"/>
                <a:ea typeface="Segoe UI"/>
                <a:cs typeface="Segoe UI"/>
              </a:rPr>
              <a:t>Move tasks up or down, mark complete, regenerate as evidence changes.</a:t>
            </a:r>
            <a:endParaRPr sz="1050"/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D4D8AA4C-4A5A-465F-B597-57019C541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6345936"/>
            <a:ext cx="8686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9AA7B8"/>
                </a:solidFill>
                <a:latin typeface="Segoe UI"/>
                <a:ea typeface="Segoe UI"/>
                <a:cs typeface="Segoe UI"/>
              </a:rPr>
              <a:t>CareerBridge  ·  careerbridge-ai-9whl.onrender.com</a:t>
            </a:r>
            <a:endParaRPr sz="800"/>
          </a:p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FFA13FFA-C2A6-4B62-9E6B-5BB12F819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345936"/>
            <a:ext cx="71323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9AA7B8"/>
                </a:solidFill>
                <a:latin typeface="Segoe UI"/>
                <a:ea typeface="Segoe UI"/>
                <a:cs typeface="Segoe UI"/>
              </a:rPr>
              <a:t>13</a:t>
            </a:r>
            <a:endParaRPr sz="850"/>
          </a:p>
        </p:txBody>
      </p:sp>
      <p:pic>
        <p:nvPicPr>
          <p:cNvPr id="36" name="图片 35">
            <a:extLst xmlns:a="http://schemas.openxmlformats.org/drawingml/2006/main">
              <a:ext uri="{FF2B5EF4-FFF2-40B4-BE49-F238E27FC236}">
                <a16:creationId xmlns:a16="http://schemas.microsoft.com/office/drawing/2014/main" id="{67EF635B-6DD2-422C-A9AE-142C538AC5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bdf904ed1d41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15240"/>
            <a:ext cx="12115165" cy="685419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69656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41840B3-2AAA-4DB1-AF85-253F3EB7E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66928"/>
            <a:ext cx="310896" cy="411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12700">
            <a:solidFill>
              <a:srgbClr val="2F6BFF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145CF59-384C-4896-938B-CF6D26AA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38912"/>
            <a:ext cx="8686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 spc="220">
                <a:solidFill>
                  <a:srgbClr val="2F6BFF"/>
                </a:solidFill>
                <a:latin typeface="Segoe UI"/>
                <a:ea typeface="Segoe UI"/>
                <a:cs typeface="Segoe UI"/>
              </a:rPr>
              <a:t>04   PRODUCT WALKTHROUGH  ·  5 OF 5</a:t>
            </a:r>
            <a:endParaRPr sz="9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BC9F9B4-B733-4FA8-94C6-147B9958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841248"/>
            <a:ext cx="10607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4213A"/>
                </a:solidFill>
                <a:latin typeface="Segoe UI"/>
                <a:ea typeface="Segoe UI"/>
                <a:cs typeface="Segoe UI"/>
              </a:rPr>
              <a:t>Trends as a cited report, not a feed</a:t>
            </a:r>
            <a:endParaRPr sz="27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826E867-A078-4A3C-9211-79E38E83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481328"/>
            <a:ext cx="104241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7A90"/>
                </a:solidFill>
                <a:latin typeface="Segoe UI"/>
                <a:ea typeface="Segoe UI"/>
                <a:cs typeface="Segoe UI"/>
              </a:rPr>
              <a:t>Step 5 of the loop  ·  the live /signals page</a:t>
            </a:r>
            <a:endParaRPr sz="11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CF82BB9-C712-447D-B5BD-A750DD2C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83080"/>
            <a:ext cx="3127248" cy="448056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9F2"/>
            </a:solidFill>
            <a:prstDash val="solid"/>
          </a:ln>
          <a:effectLst xmlns:a="http://schemas.openxmlformats.org/drawingml/2006/main">
            <a:outerShdw blurRad="152400" dist="19050" dir="5400000" algn="bl" rotWithShape="0">
              <a:srgbClr val="0B1B33">
                <a:alpha val="5000"/>
              </a:srgbClr>
            </a:outerShdw>
          </a:effectLst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FB90B73F-B487-4141-8B18-DDB3B225E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920240"/>
            <a:ext cx="77724" cy="77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5D6A"/>
          </a:solidFill>
          <a:ln xmlns:a="http://schemas.openxmlformats.org/drawingml/2006/main" w="12700">
            <a:solidFill>
              <a:srgbClr val="E35D6A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8949B6EC-937C-4520-B1B6-31E92950E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1920240"/>
            <a:ext cx="77724" cy="77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B93E"/>
          </a:solidFill>
          <a:ln xmlns:a="http://schemas.openxmlformats.org/drawingml/2006/main" w="12700">
            <a:solidFill>
              <a:srgbClr val="E8B93E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E7731A4E-0F54-4ED4-9227-3A471F840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1920240"/>
            <a:ext cx="77724" cy="77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B970"/>
          </a:solidFill>
          <a:ln xmlns:a="http://schemas.openxmlformats.org/drawingml/2006/main" w="12700">
            <a:solidFill>
              <a:srgbClr val="3FB970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2116E16-A3E8-4368-B8B3-ADC7A7145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1874520"/>
            <a:ext cx="2286000" cy="1828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2F7"/>
          </a:solidFill>
          <a:ln xmlns:a="http://schemas.openxmlformats.org/drawingml/2006/main" w="12700">
            <a:solidFill>
              <a:srgbClr val="EFF2F7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4E67640-7273-497B-9B93-32C23C67F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5336" y="1874520"/>
            <a:ext cx="20848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6B7A90"/>
                </a:solidFill>
                <a:latin typeface="Segoe UI"/>
                <a:ea typeface="Segoe UI"/>
                <a:cs typeface="Segoe UI"/>
              </a:rPr>
              <a:t>careerbridge-ai-9whl.onrender.com/signals</a:t>
            </a:r>
            <a:endParaRPr sz="7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A2530BFB-E83A-41DB-BD8E-66657F02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67128"/>
            <a:ext cx="3127248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9F2"/>
          </a:solidFill>
          <a:ln xmlns:a="http://schemas.openxmlformats.org/drawingml/2006/main" w="12700">
            <a:solidFill>
              <a:srgbClr val="E3E9F2"/>
            </a:solidFill>
            <a:prstDash val="solid"/>
          </a:ln>
        </p:spPr>
      </p:sp>
      <p:pic>
        <p:nvPicPr>
          <p:cNvPr id="13" name="Image 0">
            <a:extLst xmlns:a="http://schemas.openxmlformats.org/drawingml/2006/main">
              <a:ext uri="{FF2B5EF4-FFF2-40B4-BE49-F238E27FC236}">
                <a16:creationId xmlns:a16="http://schemas.microsoft.com/office/drawing/2014/main" id="{B586CE40-3E94-4CD6-9BF4-286B1073B2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6aab5f517b4f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7003" y="2258568"/>
            <a:ext cx="2727722" cy="3895344"/>
          </a:xfrm>
          <a:prstGeom xmlns:a="http://schemas.openxmlformats.org/drawingml/2006/main" prst="rect">
            <a:avLst/>
          </a:prstGeom>
        </p:spPr>
      </p:pic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3A75F014-4194-4DFC-BAF8-1D5DEB312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1828800"/>
            <a:ext cx="28346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2F6BFF"/>
                </a:solidFill>
                <a:latin typeface="Segoe UI"/>
                <a:ea typeface="Segoe UI"/>
                <a:cs typeface="Segoe UI"/>
              </a:rPr>
              <a:t>ON THIS SCREEN</a:t>
            </a:r>
            <a:endParaRPr sz="9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325C5E31-DF46-404A-B9CA-B923A15A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221284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12700">
            <a:solidFill>
              <a:srgbClr val="2F6BFF"/>
            </a:solidFill>
            <a:prstDash val="solid"/>
          </a:ln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252E5D72-4D7C-41A8-A45A-6907E364A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221284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  <a:endParaRPr sz="95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D81D6514-BEE0-415A-A9F5-49ACBB54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2185416"/>
            <a:ext cx="6309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4213A"/>
                </a:solidFill>
                <a:latin typeface="Segoe UI"/>
                <a:ea typeface="Segoe UI"/>
                <a:cs typeface="Segoe UI"/>
              </a:rPr>
              <a:t>Any occupation, any region</a:t>
            </a:r>
            <a:endParaRPr sz="135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49E8E427-0EF2-480B-9524-5EBA4EDE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2496312"/>
            <a:ext cx="6400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1050">
                <a:solidFill>
                  <a:srgbClr val="46536B"/>
                </a:solidFill>
                <a:latin typeface="Segoe UI"/>
                <a:ea typeface="Segoe UI"/>
                <a:cs typeface="Segoe UI"/>
              </a:rPr>
              <a:t>Target region, occupation and time horizon generate a tailored trend report.</a:t>
            </a:r>
            <a:endParaRPr sz="105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968F8AD5-127D-4420-8A17-ED109011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3035808"/>
            <a:ext cx="6309360" cy="73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5"/>
          </a:solidFill>
          <a:ln xmlns:a="http://schemas.openxmlformats.org/drawingml/2006/main" w="12700">
            <a:solidFill>
              <a:srgbClr val="E6ECF5"/>
            </a:solidFill>
            <a:prstDash val="solid"/>
          </a:ln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8949086C-7256-48A6-94CC-58BABC021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3182112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12700">
            <a:solidFill>
              <a:srgbClr val="2F6BFF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E53E4144-3467-4F4A-B7EA-A77B63BC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3182112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  <a:endParaRPr sz="95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CB6323CD-819F-4078-8E63-11299671B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3154680"/>
            <a:ext cx="6309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4213A"/>
                </a:solidFill>
                <a:latin typeface="Segoe UI"/>
                <a:ea typeface="Segoe UI"/>
                <a:cs typeface="Segoe UI"/>
              </a:rPr>
              <a:t>An honest badge</a:t>
            </a:r>
            <a:endParaRPr sz="135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D7854FA1-DF9D-45D7-A43A-98B23967B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3465576"/>
            <a:ext cx="6400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1050">
                <a:solidFill>
                  <a:srgbClr val="46536B"/>
                </a:solidFill>
                <a:latin typeface="Segoe UI"/>
                <a:ea typeface="Segoe UI"/>
                <a:cs typeface="Segoe UI"/>
              </a:rPr>
              <a:t>“Sourced snapshot · not a live job feed” is declared before you generate.</a:t>
            </a:r>
            <a:endParaRPr sz="105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F4BD963C-1EB9-425D-B157-8336711B5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4005072"/>
            <a:ext cx="6309360" cy="73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5"/>
          </a:solidFill>
          <a:ln xmlns:a="http://schemas.openxmlformats.org/drawingml/2006/main" w="12700">
            <a:solidFill>
              <a:srgbClr val="E6ECF5"/>
            </a:solidFill>
            <a:prstDash val="solid"/>
          </a:ln>
        </p:spPr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B09F8F35-1E90-4152-8CFD-07DFB895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415137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12700">
            <a:solidFill>
              <a:srgbClr val="2F6BFF"/>
            </a:solidFill>
            <a:prstDash val="solid"/>
          </a:ln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85957646-E7A9-44C1-84E0-24C76991F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4151376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  <a:endParaRPr sz="95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FFBDE369-C88C-4021-8102-CC427B9FD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4123944"/>
            <a:ext cx="6309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4213A"/>
                </a:solidFill>
                <a:latin typeface="Segoe UI"/>
                <a:ea typeface="Segoe UI"/>
                <a:cs typeface="Segoe UI"/>
              </a:rPr>
              <a:t>Cited analysis</a:t>
            </a:r>
            <a:endParaRPr sz="135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50BA92EB-7BA8-4D6E-ADDE-EA3A5E6F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4434840"/>
            <a:ext cx="6400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1050">
                <a:solidFill>
                  <a:srgbClr val="46536B"/>
                </a:solidFill>
                <a:latin typeface="Segoe UI"/>
                <a:ea typeface="Segoe UI"/>
                <a:cs typeface="Segoe UI"/>
              </a:rPr>
              <a:t>Searches employment, AI, investment and policy sources, then writes a cited report.</a:t>
            </a:r>
            <a:endParaRPr sz="105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26BD4EEA-D18E-4D55-9A37-CA87E870F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4974336"/>
            <a:ext cx="6309360" cy="73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5"/>
          </a:solidFill>
          <a:ln xmlns:a="http://schemas.openxmlformats.org/drawingml/2006/main" w="12700">
            <a:solidFill>
              <a:srgbClr val="E6ECF5"/>
            </a:solidFill>
            <a:prstDash val="solid"/>
          </a:ln>
        </p:spPr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534304EC-C781-4D23-BBB3-4D1C71021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5120640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12700">
            <a:solidFill>
              <a:srgbClr val="2F6BFF"/>
            </a:solidFill>
            <a:prstDash val="solid"/>
          </a:ln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F04FC580-FDC6-48D0-81AE-086C70A1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5120640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</a:t>
            </a:r>
            <a:endParaRPr sz="95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D49B4941-A6A7-4D2A-B570-470ADC38D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5093208"/>
            <a:ext cx="6309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4213A"/>
                </a:solidFill>
                <a:latin typeface="Segoe UI"/>
                <a:ea typeface="Segoe UI"/>
                <a:cs typeface="Segoe UI"/>
              </a:rPr>
              <a:t>WEF as baseline</a:t>
            </a:r>
            <a:endParaRPr sz="1350"/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A8996490-29B4-482C-AD84-C962CBEE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5404104"/>
            <a:ext cx="6400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1050">
                <a:solidFill>
                  <a:srgbClr val="46536B"/>
                </a:solidFill>
                <a:latin typeface="Segoe UI"/>
                <a:ea typeface="Segoe UI"/>
                <a:cs typeface="Segoe UI"/>
              </a:rPr>
              <a:t>Overview trend cards reference the WEF Future of Jobs Report 2025.</a:t>
            </a:r>
            <a:endParaRPr sz="1050"/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7D1F20DD-F5E1-4DA4-A6F8-13746DF9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6345936"/>
            <a:ext cx="8686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9AA7B8"/>
                </a:solidFill>
                <a:latin typeface="Segoe UI"/>
                <a:ea typeface="Segoe UI"/>
                <a:cs typeface="Segoe UI"/>
              </a:rPr>
              <a:t>CareerBridge  ·  careerbridge-ai-9whl.onrender.com</a:t>
            </a:r>
            <a:endParaRPr sz="800"/>
          </a:p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FF755D63-8F12-44F6-A91F-6AB07F18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345936"/>
            <a:ext cx="71323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9AA7B8"/>
                </a:solidFill>
                <a:latin typeface="Segoe UI"/>
                <a:ea typeface="Segoe UI"/>
                <a:cs typeface="Segoe UI"/>
              </a:rPr>
              <a:t>14</a:t>
            </a:r>
            <a:endParaRPr sz="850"/>
          </a:p>
        </p:txBody>
      </p:sp>
    </p:spTree>
    <p:extLst>
      <p:ext uri="{BB962C8B-B14F-4D97-AF65-F5344CB8AC3E}">
        <p14:creationId xmlns:p14="http://schemas.microsoft.com/office/powerpoint/2010/main" val="76234747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2865AAC-E76D-479B-9232-BC1D8A55A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66928"/>
            <a:ext cx="310896" cy="411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12700">
            <a:solidFill>
              <a:srgbClr val="2F6BFF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C081083-EA50-43CA-B9A7-F4238F70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38912"/>
            <a:ext cx="8686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 spc="220">
                <a:solidFill>
                  <a:srgbClr val="2F6BFF"/>
                </a:solidFill>
                <a:latin typeface="Segoe UI"/>
                <a:ea typeface="Segoe UI"/>
                <a:cs typeface="Segoe UI"/>
              </a:rPr>
              <a:t>05   TRUST BY DESIGN</a:t>
            </a:r>
            <a:endParaRPr sz="9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DAA637A-ED78-404C-8A0F-447A31117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841248"/>
            <a:ext cx="10607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4213A"/>
                </a:solidFill>
                <a:latin typeface="Segoe UI"/>
                <a:ea typeface="Segoe UI"/>
                <a:cs typeface="Segoe UI"/>
              </a:rPr>
              <a:t>The algorithm is laid open; the sources are traceable</a:t>
            </a:r>
            <a:endParaRPr sz="27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F0C241C-D16F-4612-91C5-6254DEB8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28800"/>
            <a:ext cx="5669280" cy="2331720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9F2"/>
            </a:solidFill>
            <a:prstDash val="solid"/>
          </a:ln>
          <a:effectLst xmlns:a="http://schemas.openxmlformats.org/drawingml/2006/main">
            <a:outerShdw blurRad="152400" dist="19050" dir="5400000" algn="bl" rotWithShape="0">
              <a:srgbClr val="0B1B33">
                <a:alpha val="5000"/>
              </a:srgbClr>
            </a:outerShdw>
          </a:effectLst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FAC1F6B-CD27-4E1C-BF76-889DB3EFB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2011680"/>
            <a:ext cx="3657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2F6BFF"/>
                </a:solidFill>
                <a:latin typeface="Segoe UI"/>
                <a:ea typeface="Segoe UI"/>
                <a:cs typeface="Segoe UI"/>
              </a:rPr>
              <a:t>ALIGNMENT SCORE</a:t>
            </a:r>
            <a:endParaRPr sz="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CDD3C67-05F1-430B-9F82-676D4B47A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2331720"/>
            <a:ext cx="5074920" cy="658368"/>
          </a:xfrm>
          <a:prstGeom xmlns:a="http://schemas.openxmlformats.org/drawingml/2006/main" prst="roundRect">
            <a:avLst>
              <a:gd name="adj" fmla="val 6944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D5E0FB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6807AE1-FAE9-4F5F-91F8-71595ECD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2331720"/>
            <a:ext cx="475488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1B4BD0"/>
                </a:solidFill>
                <a:latin typeface="Consolas"/>
                <a:ea typeface="Consolas"/>
                <a:cs typeface="Consolas"/>
              </a:rPr>
              <a:t>min( current , required )  ÷  required</a:t>
            </a:r>
            <a:endParaRPr sz="15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25512A5-5A78-46DC-97CD-8D52E054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3154680"/>
            <a:ext cx="50749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35000"/>
              </a:lnSpc>
              <a:buNone/>
            </a:pPr>
            <a:r>
              <a:rPr sz="1050">
                <a:solidFill>
                  <a:srgbClr val="46536B"/>
                </a:solidFill>
                <a:latin typeface="Segoe UI"/>
                <a:ea typeface="Segoe UI"/>
                <a:cs typeface="Segoe UI"/>
              </a:rPr>
              <a:t>Computed per skill that carries level evidence, then averaged. Skills with no evidence are excluded from the average entirely.</a:t>
            </a:r>
            <a:endParaRPr sz="10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C0ACD887-0A88-42C0-B38C-EB56A2C0F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1828800"/>
            <a:ext cx="4690872" cy="2331720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9F2"/>
            </a:solidFill>
            <a:prstDash val="solid"/>
          </a:ln>
          <a:effectLst xmlns:a="http://schemas.openxmlformats.org/drawingml/2006/main">
            <a:outerShdw blurRad="152400" dist="19050" dir="5400000" algn="bl" rotWithShape="0">
              <a:srgbClr val="0B1B33">
                <a:alpha val="5000"/>
              </a:srgbClr>
            </a:outerShdw>
          </a:effectLst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1A24D1B-3ABC-41AB-A93B-76566AB0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92" y="2011680"/>
            <a:ext cx="4023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10A79B"/>
                </a:solidFill>
                <a:latin typeface="Segoe UI"/>
                <a:ea typeface="Segoe UI"/>
                <a:cs typeface="Segoe UI"/>
              </a:rPr>
              <a:t>TRENDS &amp; SOURCES</a:t>
            </a:r>
            <a:endParaRPr sz="9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4904EAA-7D57-40DA-8F63-FD9289A7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92" y="2359152"/>
            <a:ext cx="868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0A79B"/>
                </a:solidFill>
                <a:latin typeface="Segoe UI"/>
                <a:ea typeface="Segoe UI"/>
                <a:cs typeface="Segoe UI"/>
              </a:rPr>
              <a:t>WEF</a:t>
            </a:r>
            <a:endParaRPr sz="10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5DB4C98-9204-4573-B9BE-88E34FDB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8" y="2359152"/>
            <a:ext cx="3291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6536B"/>
                </a:solidFill>
                <a:latin typeface="Segoe UI"/>
                <a:ea typeface="Segoe UI"/>
                <a:cs typeface="Segoe UI"/>
              </a:rPr>
              <a:t>Future of Jobs Report 2025  (2025–2030)</a:t>
            </a:r>
            <a:endParaRPr sz="10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D89C7673-3B2E-4CCB-B653-389BCB43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92" y="2761488"/>
            <a:ext cx="4069080" cy="73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8"/>
          </a:solidFill>
          <a:ln xmlns:a="http://schemas.openxmlformats.org/drawingml/2006/main" w="12700">
            <a:solidFill>
              <a:srgbClr val="EEF2F8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9C840E1A-A0EB-4A52-8D5B-D093FA658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92" y="2926080"/>
            <a:ext cx="868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0A79B"/>
                </a:solidFill>
                <a:latin typeface="Segoe UI"/>
                <a:ea typeface="Segoe UI"/>
                <a:cs typeface="Segoe UI"/>
              </a:rPr>
              <a:t>SDG 4</a:t>
            </a:r>
            <a:endParaRPr sz="10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1445E696-6466-4EB0-8C98-E105AA2F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8" y="2926080"/>
            <a:ext cx="3291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6536B"/>
                </a:solidFill>
                <a:latin typeface="Segoe UI"/>
                <a:ea typeface="Segoe UI"/>
                <a:cs typeface="Segoe UI"/>
              </a:rPr>
              <a:t>Target 4.4  ·  lifelong learning</a:t>
            </a:r>
            <a:endParaRPr sz="10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E86D045D-A51A-4EDA-B6EC-414079306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92" y="3328416"/>
            <a:ext cx="4069080" cy="73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8"/>
          </a:solidFill>
          <a:ln xmlns:a="http://schemas.openxmlformats.org/drawingml/2006/main" w="12700">
            <a:solidFill>
              <a:srgbClr val="EEF2F8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49E3E09-824E-4609-8E7A-C8C90F4F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92" y="3493008"/>
            <a:ext cx="868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0A79B"/>
                </a:solidFill>
                <a:latin typeface="Segoe UI"/>
                <a:ea typeface="Segoe UI"/>
                <a:cs typeface="Segoe UI"/>
              </a:rPr>
              <a:t>SDG 8</a:t>
            </a:r>
            <a:endParaRPr sz="10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23D2D0F-4AED-4D87-B052-C14701901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8" y="3493008"/>
            <a:ext cx="3291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6536B"/>
                </a:solidFill>
                <a:latin typeface="Segoe UI"/>
                <a:ea typeface="Segoe UI"/>
                <a:cs typeface="Segoe UI"/>
              </a:rPr>
              <a:t>Target 8.5  ·  decent work</a:t>
            </a:r>
            <a:endParaRPr sz="10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E6872BF9-43D9-487D-80E3-36AABE53D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370832"/>
            <a:ext cx="10634472" cy="16002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ADFC9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64E1E3C-2DA7-49B8-9A8B-E7E23AB8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4535424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B4700F"/>
                </a:solidFill>
                <a:latin typeface="Segoe UI"/>
                <a:ea typeface="Segoe UI"/>
                <a:cs typeface="Segoe UI"/>
              </a:rPr>
              <a:t>WHAT WE DON'T CLAIM</a:t>
            </a:r>
            <a:endParaRPr sz="9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9D6E3C79-865E-429B-A360-996BD80FD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846320"/>
            <a:ext cx="2011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C9A462"/>
                </a:solidFill>
                <a:latin typeface="Segoe UI"/>
                <a:ea typeface="Segoe UI"/>
                <a:cs typeface="Segoe UI"/>
              </a:rPr>
              <a:t>—</a:t>
            </a:r>
            <a:endParaRPr sz="10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6D349E7C-BFE1-4711-902F-5C11B98D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46320"/>
            <a:ext cx="9692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6536B"/>
                </a:solidFill>
                <a:latin typeface="Segoe UI"/>
                <a:ea typeface="Segoe UI"/>
                <a:cs typeface="Segoe UI"/>
              </a:rPr>
              <a:t>This is not a fit score, and it is not a probability of being hired.</a:t>
            </a:r>
            <a:endParaRPr sz="10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93263ACA-D5B9-4828-B6E6-42525F00D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212080"/>
            <a:ext cx="2011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C9A462"/>
                </a:solidFill>
                <a:latin typeface="Segoe UI"/>
                <a:ea typeface="Segoe UI"/>
                <a:cs typeface="Segoe UI"/>
              </a:rPr>
              <a:t>—</a:t>
            </a:r>
            <a:endParaRPr sz="10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844CB0F9-B38C-473B-986F-3281FFFF9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12080"/>
            <a:ext cx="9692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6536B"/>
                </a:solidFill>
                <a:latin typeface="Segoe UI"/>
                <a:ea typeface="Segoe UI"/>
                <a:cs typeface="Segoe UI"/>
              </a:rPr>
              <a:t>Global reports are cited as context — they do not replace local hiring data.</a:t>
            </a:r>
            <a:endParaRPr sz="10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BDFA7395-C588-4E73-A3D6-07E0141C4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577840"/>
            <a:ext cx="2011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C9A462"/>
                </a:solidFill>
                <a:latin typeface="Segoe UI"/>
                <a:ea typeface="Segoe UI"/>
                <a:cs typeface="Segoe UI"/>
              </a:rPr>
              <a:t>—</a:t>
            </a:r>
            <a:endParaRPr sz="10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93B6236F-BE66-4DB6-841A-DA8A73F9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577840"/>
            <a:ext cx="9692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6536B"/>
                </a:solidFill>
                <a:latin typeface="Segoe UI"/>
                <a:ea typeface="Segoe UI"/>
                <a:cs typeface="Segoe UI"/>
              </a:rPr>
              <a:t>SDG mapping is a product-level goal alignment, not a causal social-impact assessment.</a:t>
            </a:r>
            <a:endParaRPr sz="10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09CF2784-0DC1-466F-89D7-66579FD87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6345936"/>
            <a:ext cx="8686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9AA7B8"/>
                </a:solidFill>
                <a:latin typeface="Segoe UI"/>
                <a:ea typeface="Segoe UI"/>
                <a:cs typeface="Segoe UI"/>
              </a:rPr>
              <a:t>Sources: CareerBridge  ·  WEF Future of Jobs 2025  ·  sdgs.un.org</a:t>
            </a:r>
            <a:endParaRPr sz="8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79BB8DAE-7619-4851-AE86-4D09C89E4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345936"/>
            <a:ext cx="71323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9AA7B8"/>
                </a:solidFill>
                <a:latin typeface="Segoe UI"/>
                <a:ea typeface="Segoe UI"/>
                <a:cs typeface="Segoe UI"/>
              </a:rPr>
              <a:t>15</a:t>
            </a:r>
            <a:endParaRPr sz="850"/>
          </a:p>
        </p:txBody>
      </p:sp>
    </p:spTree>
    <p:extLst>
      <p:ext uri="{BB962C8B-B14F-4D97-AF65-F5344CB8AC3E}">
        <p14:creationId xmlns:p14="http://schemas.microsoft.com/office/powerpoint/2010/main" val="61961049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3FB3653-F266-4E8F-A0C9-490E9385B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66928"/>
            <a:ext cx="310896" cy="411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12700">
            <a:solidFill>
              <a:srgbClr val="2F6BFF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29260A0-8DA9-4F64-9C92-69B174E9E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38912"/>
            <a:ext cx="8686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 spc="220">
                <a:solidFill>
                  <a:srgbClr val="2F6BFF"/>
                </a:solidFill>
                <a:latin typeface="Segoe UI"/>
                <a:ea typeface="Segoe UI"/>
                <a:cs typeface="Segoe UI"/>
              </a:rPr>
              <a:t>06   VALUE &amp; IMPACT</a:t>
            </a:r>
            <a:endParaRPr sz="9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2ACCBE3-B3C4-41F9-AF0B-60A2DCA41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841248"/>
            <a:ext cx="10607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4213A"/>
                </a:solidFill>
                <a:latin typeface="Segoe UI"/>
                <a:ea typeface="Segoe UI"/>
                <a:cs typeface="Segoe UI"/>
              </a:rPr>
              <a:t>Three audiences, three kinds of certainty</a:t>
            </a:r>
            <a:endParaRPr sz="27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B66AD90-67A5-48EC-97A4-01761D155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28800"/>
            <a:ext cx="3383280" cy="393192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9F2"/>
            </a:solidFill>
            <a:prstDash val="solid"/>
          </a:ln>
          <a:effectLst xmlns:a="http://schemas.openxmlformats.org/drawingml/2006/main">
            <a:outerShdw blurRad="152400" dist="19050" dir="5400000" algn="bl" rotWithShape="0">
              <a:srgbClr val="0B1B33">
                <a:alpha val="5000"/>
              </a:srgbClr>
            </a:outerShdw>
          </a:effectLst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94DB050E-216F-4811-B66D-8AC4D9B93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28800"/>
            <a:ext cx="338328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12700">
            <a:solidFill>
              <a:srgbClr val="2F6BFF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4BC0999-ED50-4480-BA1F-E2F4B1C9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" y="2084832"/>
            <a:ext cx="2743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200">
                <a:solidFill>
                  <a:srgbClr val="2F6BFF"/>
                </a:solidFill>
                <a:latin typeface="Segoe UI"/>
                <a:ea typeface="Segoe UI"/>
                <a:cs typeface="Segoe UI"/>
              </a:rPr>
              <a:t>LEARNERS</a:t>
            </a:r>
            <a:endParaRPr sz="8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E0C0BC8-5D40-4ACC-8B56-FE5E3793F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" y="2377440"/>
            <a:ext cx="278892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650" b="1">
                <a:solidFill>
                  <a:srgbClr val="14213A"/>
                </a:solidFill>
                <a:latin typeface="Segoe UI"/>
                <a:ea typeface="Segoe UI"/>
                <a:cs typeface="Segoe UI"/>
              </a:rPr>
              <a:t>Fewer detours</a:t>
            </a:r>
            <a:endParaRPr sz="16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1613A7B1-5A43-4B7C-98C4-EEB2A49E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" y="3063240"/>
            <a:ext cx="2761488" cy="1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6"/>
          </a:solidFill>
          <a:ln xmlns:a="http://schemas.openxmlformats.org/drawingml/2006/main" w="12700">
            <a:solidFill>
              <a:srgbClr val="E8EDF6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AB6B782B-535F-4B11-A854-AC7E5300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364992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12700">
            <a:solidFill>
              <a:srgbClr val="2F6BFF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AC16394-55CC-4952-B427-F7E7CE4C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592" y="3246120"/>
            <a:ext cx="26060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32000"/>
              </a:lnSpc>
              <a:buNone/>
            </a:pPr>
            <a:r>
              <a:rPr sz="1000">
                <a:solidFill>
                  <a:srgbClr val="46536B"/>
                </a:solidFill>
                <a:latin typeface="Segoe UI"/>
                <a:ea typeface="Segoe UI"/>
                <a:cs typeface="Segoe UI"/>
              </a:rPr>
              <a:t>Know exactly what to do next, not just “study more”</a:t>
            </a:r>
            <a:endParaRPr sz="10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F0C9E49F-3CC8-4828-BE6D-AEA60872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4142232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12700">
            <a:solidFill>
              <a:srgbClr val="2F6BFF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8B9E737-3429-4765-8FA0-FB2A4D80B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592" y="4023360"/>
            <a:ext cx="26060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32000"/>
              </a:lnSpc>
              <a:buNone/>
            </a:pPr>
            <a:r>
              <a:rPr sz="1000">
                <a:solidFill>
                  <a:srgbClr val="46536B"/>
                </a:solidFill>
                <a:latin typeface="Segoe UI"/>
                <a:ea typeface="Segoe UI"/>
                <a:cs typeface="Segoe UI"/>
              </a:rPr>
              <a:t>Effort is estimated: 18 hours over ~4 weeks</a:t>
            </a:r>
            <a:endParaRPr sz="10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07EC26D-6EDE-4AC7-9ED6-02FCD4642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4919472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12700">
            <a:solidFill>
              <a:srgbClr val="2F6BFF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56C84B2-14B0-49BE-ADFE-63B03FFC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592" y="4800600"/>
            <a:ext cx="26060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32000"/>
              </a:lnSpc>
              <a:buNone/>
            </a:pPr>
            <a:r>
              <a:rPr sz="1000">
                <a:solidFill>
                  <a:srgbClr val="46536B"/>
                </a:solidFill>
                <a:latin typeface="Segoe UI"/>
                <a:ea typeface="Segoe UI"/>
                <a:cs typeface="Segoe UI"/>
              </a:rPr>
              <a:t>Priority is yours to change — never locked by the system</a:t>
            </a:r>
            <a:endParaRPr sz="10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4FEAB0D-9974-4C47-85DB-1328D760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828800"/>
            <a:ext cx="3383280" cy="393192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9F2"/>
            </a:solidFill>
            <a:prstDash val="solid"/>
          </a:ln>
          <a:effectLst xmlns:a="http://schemas.openxmlformats.org/drawingml/2006/main">
            <a:outerShdw blurRad="152400" dist="19050" dir="5400000" algn="bl" rotWithShape="0">
              <a:srgbClr val="0B1B33">
                <a:alpha val="5000"/>
              </a:srgbClr>
            </a:outerShdw>
          </a:effectLst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D3BA19A3-BDA0-4BDE-B9F2-38CBF1797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828800"/>
            <a:ext cx="338328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9B"/>
          </a:solidFill>
          <a:ln xmlns:a="http://schemas.openxmlformats.org/drawingml/2006/main" w="12700">
            <a:solidFill>
              <a:srgbClr val="10A79B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7504A7FA-E87F-4C0A-8ADA-F4AB518CE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456" y="2084832"/>
            <a:ext cx="2743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200">
                <a:solidFill>
                  <a:srgbClr val="10A79B"/>
                </a:solidFill>
                <a:latin typeface="Segoe UI"/>
                <a:ea typeface="Segoe UI"/>
                <a:cs typeface="Segoe UI"/>
              </a:rPr>
              <a:t>EDUCATORS</a:t>
            </a:r>
            <a:endParaRPr sz="8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CE310EC8-969A-4C0E-89B6-CBB28C384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456" y="2377440"/>
            <a:ext cx="278892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650" b="1">
                <a:solidFill>
                  <a:srgbClr val="14213A"/>
                </a:solidFill>
                <a:latin typeface="Segoe UI"/>
                <a:ea typeface="Segoe UI"/>
                <a:cs typeface="Segoe UI"/>
              </a:rPr>
              <a:t>Explainable, intervenable</a:t>
            </a:r>
            <a:endParaRPr sz="16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BD34FEF5-C707-4E01-AFEC-24460067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456" y="3063240"/>
            <a:ext cx="2761488" cy="1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6"/>
          </a:solidFill>
          <a:ln xmlns:a="http://schemas.openxmlformats.org/drawingml/2006/main" w="12700">
            <a:solidFill>
              <a:srgbClr val="E8EDF6"/>
            </a:solidFill>
            <a:prstDash val="solid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D7AB1EF-553F-48A1-AA48-1E3D6FEF7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9744" y="3364992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9B"/>
          </a:solidFill>
          <a:ln xmlns:a="http://schemas.openxmlformats.org/drawingml/2006/main" w="12700">
            <a:solidFill>
              <a:srgbClr val="10A79B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19FC7C8-9D00-4FD1-93BE-D12301194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912" y="3246120"/>
            <a:ext cx="26060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32000"/>
              </a:lnSpc>
              <a:buNone/>
            </a:pPr>
            <a:r>
              <a:rPr sz="1000">
                <a:solidFill>
                  <a:srgbClr val="46536B"/>
                </a:solidFill>
                <a:latin typeface="Segoe UI"/>
                <a:ea typeface="Segoe UI"/>
                <a:cs typeface="Segoe UI"/>
              </a:rPr>
              <a:t>Every conclusion traces back to evidence</a:t>
            </a:r>
            <a:endParaRPr sz="100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D6687B2D-188B-430D-A78E-DFE641CE8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9744" y="4142232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9B"/>
          </a:solidFill>
          <a:ln xmlns:a="http://schemas.openxmlformats.org/drawingml/2006/main" w="12700">
            <a:solidFill>
              <a:srgbClr val="10A79B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E33D7C8B-9E95-45D5-AA88-F663F614E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912" y="4023360"/>
            <a:ext cx="26060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32000"/>
              </a:lnSpc>
              <a:buNone/>
            </a:pPr>
            <a:r>
              <a:rPr sz="1000">
                <a:solidFill>
                  <a:srgbClr val="46536B"/>
                </a:solidFill>
                <a:latin typeface="Segoe UI"/>
                <a:ea typeface="Segoe UI"/>
                <a:cs typeface="Segoe UI"/>
              </a:rPr>
              <a:t>Gaps aggregate per skill, so scheduling gets easier</a:t>
            </a:r>
            <a:endParaRPr sz="100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B4699B28-205F-4AD3-B711-2B81F401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9744" y="4919472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9B"/>
          </a:solidFill>
          <a:ln xmlns:a="http://schemas.openxmlformats.org/drawingml/2006/main" w="12700">
            <a:solidFill>
              <a:srgbClr val="10A79B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8C6BB83E-4037-41BC-9B9A-7B43222A9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912" y="4800600"/>
            <a:ext cx="26060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32000"/>
              </a:lnSpc>
              <a:buNone/>
            </a:pPr>
            <a:r>
              <a:rPr sz="1000">
                <a:solidFill>
                  <a:srgbClr val="46536B"/>
                </a:solidFill>
                <a:latin typeface="Segoe UI"/>
                <a:ea typeface="Segoe UI"/>
                <a:cs typeface="Segoe UI"/>
              </a:rPr>
              <a:t>One shared vocabulary instead of competing claims</a:t>
            </a:r>
            <a:endParaRPr sz="100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29BF4C41-E8A1-4533-AA6F-6D5A216D1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1828800"/>
            <a:ext cx="3383280" cy="393192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9F2"/>
            </a:solidFill>
            <a:prstDash val="solid"/>
          </a:ln>
          <a:effectLst xmlns:a="http://schemas.openxmlformats.org/drawingml/2006/main">
            <a:outerShdw blurRad="152400" dist="19050" dir="5400000" algn="bl" rotWithShape="0">
              <a:srgbClr val="0B1B33">
                <a:alpha val="5000"/>
              </a:srgbClr>
            </a:outerShdw>
          </a:effectLst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99A996FB-AB58-42EB-84DE-A8AFE0261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1828800"/>
            <a:ext cx="338328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FF"/>
          </a:solidFill>
          <a:ln xmlns:a="http://schemas.openxmlformats.org/drawingml/2006/main" w="12700">
            <a:solidFill>
              <a:srgbClr val="7C5CFF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92A44E6-ED02-4C8A-803F-61551D1A1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4776" y="2084832"/>
            <a:ext cx="2743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200">
                <a:solidFill>
                  <a:srgbClr val="7C5CFF"/>
                </a:solidFill>
                <a:latin typeface="Segoe UI"/>
                <a:ea typeface="Segoe UI"/>
                <a:cs typeface="Segoe UI"/>
              </a:rPr>
              <a:t>ENTERPRISE L&amp;D</a:t>
            </a:r>
            <a:endParaRPr sz="85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D0F43E1D-8272-41E6-A173-55885986A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4776" y="2377440"/>
            <a:ext cx="278892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650" b="1">
                <a:solidFill>
                  <a:srgbClr val="14213A"/>
                </a:solidFill>
                <a:latin typeface="Segoe UI"/>
                <a:ea typeface="Segoe UI"/>
                <a:cs typeface="Segoe UI"/>
              </a:rPr>
              <a:t>Quantified gaps</a:t>
            </a:r>
            <a:endParaRPr sz="165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E39CB81A-0142-4EEC-96F0-E03FCDFE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4776" y="3063240"/>
            <a:ext cx="2761488" cy="1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6"/>
          </a:solidFill>
          <a:ln xmlns:a="http://schemas.openxmlformats.org/drawingml/2006/main" w="12700">
            <a:solidFill>
              <a:srgbClr val="E8EDF6"/>
            </a:solidFill>
            <a:prstDash val="solid"/>
          </a:ln>
        </p:spPr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22E9BCF9-3FDA-4619-B8D6-85AF0497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3064" y="3364992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CFF"/>
          </a:solidFill>
          <a:ln xmlns:a="http://schemas.openxmlformats.org/drawingml/2006/main" w="12700">
            <a:solidFill>
              <a:srgbClr val="7C5CFF"/>
            </a:solidFill>
            <a:prstDash val="solid"/>
          </a:ln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DD8D9816-31AA-4C57-88AB-E320B866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4232" y="3246120"/>
            <a:ext cx="26060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32000"/>
              </a:lnSpc>
              <a:buNone/>
            </a:pPr>
            <a:r>
              <a:rPr sz="1000">
                <a:solidFill>
                  <a:srgbClr val="46536B"/>
                </a:solidFill>
                <a:latin typeface="Segoe UI"/>
                <a:ea typeface="Segoe UI"/>
                <a:cs typeface="Segoe UI"/>
              </a:rPr>
              <a:t>Benchmark the gap against role requirements</a:t>
            </a:r>
            <a:endParaRPr sz="100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29A6BEC4-7593-4203-8FBE-A4837D890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3064" y="4142232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CFF"/>
          </a:solidFill>
          <a:ln xmlns:a="http://schemas.openxmlformats.org/drawingml/2006/main" w="12700">
            <a:solidFill>
              <a:srgbClr val="7C5CFF"/>
            </a:solidFill>
            <a:prstDash val="solid"/>
          </a:ln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A2506644-07A8-4009-8FE5-A7EBD9CD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4232" y="4023360"/>
            <a:ext cx="26060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32000"/>
              </a:lnSpc>
              <a:buNone/>
            </a:pPr>
            <a:r>
              <a:rPr sz="1000">
                <a:solidFill>
                  <a:srgbClr val="46536B"/>
                </a:solidFill>
                <a:latin typeface="Segoe UI"/>
                <a:ea typeface="Segoe UI"/>
                <a:cs typeface="Segoe UI"/>
              </a:rPr>
              <a:t>Rank training spend by level difference</a:t>
            </a:r>
            <a:endParaRPr sz="1000"/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A5F8B090-92FC-4AB9-A274-3417331B3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3064" y="4919472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CFF"/>
          </a:solidFill>
          <a:ln xmlns:a="http://schemas.openxmlformats.org/drawingml/2006/main" w="12700">
            <a:solidFill>
              <a:srgbClr val="7C5CFF"/>
            </a:solidFill>
            <a:prstDash val="solid"/>
          </a:ln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049E2403-D63E-44D6-9374-316C61F4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4232" y="4800600"/>
            <a:ext cx="26060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32000"/>
              </a:lnSpc>
              <a:buNone/>
            </a:pPr>
            <a:r>
              <a:rPr sz="1000">
                <a:solidFill>
                  <a:srgbClr val="46536B"/>
                </a:solidFill>
                <a:latin typeface="Segoe UI"/>
                <a:ea typeface="Segoe UI"/>
                <a:cs typeface="Segoe UI"/>
              </a:rPr>
              <a:t>Trend signals arrive sourced and citable internally</a:t>
            </a:r>
            <a:endParaRPr sz="1000"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34191663-10B9-4EB1-8CEB-02A478D6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6345936"/>
            <a:ext cx="8686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9AA7B8"/>
                </a:solidFill>
                <a:latin typeface="Segoe UI"/>
                <a:ea typeface="Segoe UI"/>
                <a:cs typeface="Segoe UI"/>
              </a:rPr>
              <a:t>CareerBridge  ·  careerbridge-ai-9whl.onrender.com</a:t>
            </a:r>
            <a:endParaRPr sz="800"/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768C84A8-DE87-42F5-B11A-1084215F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345936"/>
            <a:ext cx="71323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9AA7B8"/>
                </a:solidFill>
                <a:latin typeface="Segoe UI"/>
                <a:ea typeface="Segoe UI"/>
                <a:cs typeface="Segoe UI"/>
              </a:rPr>
              <a:t>16</a:t>
            </a:r>
            <a:endParaRPr sz="850"/>
          </a:p>
        </p:txBody>
      </p:sp>
    </p:spTree>
    <p:extLst>
      <p:ext uri="{BB962C8B-B14F-4D97-AF65-F5344CB8AC3E}">
        <p14:creationId xmlns:p14="http://schemas.microsoft.com/office/powerpoint/2010/main" val="23605147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4E556EB-70DC-4EEB-A2B5-B79255122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66928"/>
            <a:ext cx="310896" cy="411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12700">
            <a:solidFill>
              <a:srgbClr val="2F6BFF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E583745-084C-4A6D-8898-ACF36D73D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38912"/>
            <a:ext cx="8686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 spc="220">
                <a:solidFill>
                  <a:srgbClr val="2F6BFF"/>
                </a:solidFill>
                <a:latin typeface="Segoe UI"/>
                <a:ea typeface="Segoe UI"/>
                <a:cs typeface="Segoe UI"/>
              </a:rPr>
              <a:t>07   BOUNDARIES</a:t>
            </a:r>
            <a:endParaRPr sz="9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3B62292-4D93-40E4-AE9B-732DAC33E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841248"/>
            <a:ext cx="10607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4213A"/>
                </a:solidFill>
                <a:latin typeface="Segoe UI"/>
                <a:ea typeface="Segoe UI"/>
                <a:cs typeface="Segoe UI"/>
              </a:rPr>
              <a:t>Boundaries are part of credibility</a:t>
            </a:r>
            <a:endParaRPr sz="27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17C3ED8-6B1A-4437-9E34-8F8818FC0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83080"/>
            <a:ext cx="3383280" cy="2057400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9F2"/>
            </a:solidFill>
            <a:prstDash val="solid"/>
          </a:ln>
          <a:effectLst xmlns:a="http://schemas.openxmlformats.org/drawingml/2006/main">
            <a:outerShdw blurRad="152400" dist="19050" dir="5400000" algn="bl" rotWithShape="0">
              <a:srgbClr val="0B1B33">
                <a:alpha val="5000"/>
              </a:srgbClr>
            </a:outerShdw>
          </a:effectLst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728B4F31-06CF-4CDD-A59A-E5D3BB08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" y="2011680"/>
            <a:ext cx="256032" cy="25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9B"/>
          </a:solidFill>
          <a:ln xmlns:a="http://schemas.openxmlformats.org/drawingml/2006/main" w="12700">
            <a:solidFill>
              <a:srgbClr val="10A79B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6F1BE7F-500E-404C-B56A-8384BB68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" y="2176272"/>
            <a:ext cx="2788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400" b="1">
                <a:solidFill>
                  <a:srgbClr val="14213A"/>
                </a:solidFill>
                <a:latin typeface="Segoe UI"/>
                <a:ea typeface="Segoe UI"/>
                <a:cs typeface="Segoe UI"/>
              </a:rPr>
              <a:t>No hiring decisions</a:t>
            </a:r>
            <a:endParaRPr sz="14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6960ABC-3B59-45A6-BA69-F3274283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" y="2724912"/>
            <a:ext cx="2761488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35000"/>
              </a:lnSpc>
              <a:buNone/>
            </a:pPr>
            <a:r>
              <a:rPr sz="1050">
                <a:solidFill>
                  <a:srgbClr val="46536B"/>
                </a:solidFill>
                <a:latin typeface="Segoe UI"/>
                <a:ea typeface="Segoe UI"/>
                <a:cs typeface="Segoe UI"/>
              </a:rPr>
              <a:t>The system takes no part in recruitment screening or HR judgement.</a:t>
            </a:r>
            <a:endParaRPr sz="10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6C044D13-F63F-4DF6-966E-1F6D2FDB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783080"/>
            <a:ext cx="3383280" cy="2057400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9F2"/>
            </a:solidFill>
            <a:prstDash val="solid"/>
          </a:ln>
          <a:effectLst xmlns:a="http://schemas.openxmlformats.org/drawingml/2006/main">
            <a:outerShdw blurRad="152400" dist="19050" dir="5400000" algn="bl" rotWithShape="0">
              <a:srgbClr val="0B1B33">
                <a:alpha val="5000"/>
              </a:srgbClr>
            </a:outerShdw>
          </a:effectLst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A4DFC30-718D-4F3D-9964-DA53DF344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456" y="2011680"/>
            <a:ext cx="256032" cy="25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9B"/>
          </a:solidFill>
          <a:ln xmlns:a="http://schemas.openxmlformats.org/drawingml/2006/main" w="12700">
            <a:solidFill>
              <a:srgbClr val="10A79B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480EAE4-954A-409A-A1E2-35F62F77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456" y="2176272"/>
            <a:ext cx="2788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400" b="1">
                <a:solidFill>
                  <a:srgbClr val="14213A"/>
                </a:solidFill>
                <a:latin typeface="Segoe UI"/>
                <a:ea typeface="Segoe UI"/>
                <a:cs typeface="Segoe UI"/>
              </a:rPr>
              <a:t>No job-outcome promises</a:t>
            </a:r>
            <a:endParaRPr sz="14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F56A1EE-A9EE-4FDF-AC15-C652B18E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456" y="2724912"/>
            <a:ext cx="2761488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35000"/>
              </a:lnSpc>
              <a:buNone/>
            </a:pPr>
            <a:r>
              <a:rPr sz="1050">
                <a:solidFill>
                  <a:srgbClr val="46536B"/>
                </a:solidFill>
                <a:latin typeface="Segoe UI"/>
                <a:ea typeface="Segoe UI"/>
                <a:cs typeface="Segoe UI"/>
              </a:rPr>
              <a:t>No offer probability is estimated, and no outcome is guaranteed.</a:t>
            </a:r>
            <a:endParaRPr sz="10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F69151D7-B321-4AB7-803C-58E273676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1783080"/>
            <a:ext cx="3383280" cy="2057400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9F2"/>
            </a:solidFill>
            <a:prstDash val="solid"/>
          </a:ln>
          <a:effectLst xmlns:a="http://schemas.openxmlformats.org/drawingml/2006/main">
            <a:outerShdw blurRad="152400" dist="19050" dir="5400000" algn="bl" rotWithShape="0">
              <a:srgbClr val="0B1B33">
                <a:alpha val="5000"/>
              </a:srgbClr>
            </a:outerShdw>
          </a:effectLst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CEBD7FBB-39A2-4C0F-A5F0-BF2A9FD9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4776" y="2011680"/>
            <a:ext cx="256032" cy="25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9B"/>
          </a:solidFill>
          <a:ln xmlns:a="http://schemas.openxmlformats.org/drawingml/2006/main" w="12700">
            <a:solidFill>
              <a:srgbClr val="10A79B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AA30BC6-D17D-432E-AE7B-33AFE4B8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4776" y="2176272"/>
            <a:ext cx="2788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400" b="1">
                <a:solidFill>
                  <a:srgbClr val="14213A"/>
                </a:solidFill>
                <a:latin typeface="Segoe UI"/>
                <a:ea typeface="Segoe UI"/>
                <a:cs typeface="Segoe UI"/>
              </a:rPr>
              <a:t>No invented data</a:t>
            </a:r>
            <a:endParaRPr sz="14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22FD320-5D8D-4EE3-83E7-0324B5E0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4776" y="2724912"/>
            <a:ext cx="2761488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35000"/>
              </a:lnSpc>
              <a:buNone/>
            </a:pPr>
            <a:r>
              <a:rPr sz="1050">
                <a:solidFill>
                  <a:srgbClr val="46536B"/>
                </a:solidFill>
                <a:latin typeface="Segoe UI"/>
                <a:ea typeface="Segoe UI"/>
                <a:cs typeface="Segoe UI"/>
              </a:rPr>
              <a:t>Missing evidence is labelled “not assessed” — never filled with a guess.</a:t>
            </a:r>
            <a:endParaRPr sz="105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D8B8100E-5B85-45EF-B1B9-F99F3C55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160520"/>
            <a:ext cx="10634472" cy="1874520"/>
          </a:xfrm>
          <a:prstGeom xmlns:a="http://schemas.openxmlformats.org/drawingml/2006/main" prst="roundRect">
            <a:avLst>
              <a:gd name="adj" fmla="val 4390"/>
            </a:avLst>
          </a:prstGeom>
          <a:solidFill xmlns:a="http://schemas.openxmlformats.org/drawingml/2006/main">
            <a:srgbClr val="0B1B33"/>
          </a:solidFill>
          <a:ln xmlns:a="http://schemas.openxmlformats.org/drawingml/2006/main" w="12700">
            <a:solidFill>
              <a:srgbClr val="0B1B33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5CA71794-D4E7-4611-915D-D8A1100D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370832"/>
            <a:ext cx="566928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2700">
                <a:solidFill>
                  <a:srgbClr val="FFFFFF"/>
                </a:solidFill>
                <a:latin typeface="Segoe UI Light"/>
                <a:ea typeface="Segoe UI Light"/>
                <a:cs typeface="Segoe UI Light"/>
              </a:rPr>
              <a:t>Use evidence.</a:t>
            </a:r>
            <a:endParaRPr sz="2700"/>
          </a:p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2700">
                <a:solidFill>
                  <a:srgbClr val="6EE7D7"/>
                </a:solidFill>
                <a:latin typeface="Segoe UI Light"/>
                <a:ea typeface="Segoe UI Light"/>
                <a:cs typeface="Segoe UI Light"/>
              </a:rPr>
              <a:t>Choose your direction.</a:t>
            </a:r>
            <a:endParaRPr sz="27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F8715FDB-A8F0-4B48-A6E3-43C53DDA3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5468112"/>
            <a:ext cx="5120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8FB4FF"/>
                </a:solidFill>
                <a:latin typeface="Segoe UI"/>
                <a:ea typeface="Segoe UI"/>
                <a:cs typeface="Segoe UI"/>
              </a:rPr>
              <a:t>careerbridge-ai-9whl.onrender.com</a:t>
            </a:r>
            <a:endParaRPr sz="11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85A821C0-3E37-4F10-A3C3-AED3D7993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434840"/>
            <a:ext cx="10973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A79"/>
          </a:solidFill>
          <a:ln xmlns:a="http://schemas.openxmlformats.org/drawingml/2006/main" w="12700">
            <a:solidFill>
              <a:srgbClr val="2C4A79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531C168-A552-4CCF-9187-470994EB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4480560"/>
            <a:ext cx="393192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1300">
                <a:solidFill>
                  <a:srgbClr val="C6D2E4"/>
                </a:solidFill>
                <a:latin typeface="Segoe UI"/>
                <a:ea typeface="Segoe UI"/>
                <a:cs typeface="Segoe UI"/>
              </a:rPr>
              <a:t>Thank you — walk through</a:t>
            </a:r>
            <a:endParaRPr sz="1300"/>
          </a:p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1300">
                <a:solidFill>
                  <a:srgbClr val="C6D2E4"/>
                </a:solidFill>
                <a:latin typeface="Segoe UI"/>
                <a:ea typeface="Segoe UI"/>
                <a:cs typeface="Segoe UI"/>
              </a:rPr>
              <a:t>a full assessment with us.</a:t>
            </a:r>
            <a:endParaRPr sz="13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E291565-D2CA-4590-B5B0-6371566F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5486400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220">
                <a:solidFill>
                  <a:srgbClr val="6E8AAE"/>
                </a:solidFill>
                <a:latin typeface="Segoe UI"/>
                <a:ea typeface="Segoe UI"/>
                <a:cs typeface="Segoe UI"/>
              </a:rPr>
              <a:t>LIVE DEMO</a:t>
            </a:r>
            <a:endParaRPr sz="8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22F29294-17DE-4103-9AE6-DE238C9A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6345936"/>
            <a:ext cx="8686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9AA7B8"/>
                </a:solidFill>
                <a:latin typeface="Segoe UI"/>
                <a:ea typeface="Segoe UI"/>
                <a:cs typeface="Segoe UI"/>
              </a:rPr>
              <a:t>CareerBridge  ·  careerbridge-ai-9whl.onrender.com</a:t>
            </a:r>
            <a:endParaRPr sz="8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198E3FD-1E9E-48B3-8F94-51782E16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345936"/>
            <a:ext cx="71323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9AA7B8"/>
                </a:solidFill>
                <a:latin typeface="Segoe UI"/>
                <a:ea typeface="Segoe UI"/>
                <a:cs typeface="Segoe UI"/>
              </a:rPr>
              <a:t>17</a:t>
            </a:r>
            <a:endParaRPr sz="850"/>
          </a:p>
        </p:txBody>
      </p:sp>
    </p:spTree>
    <p:extLst>
      <p:ext uri="{BB962C8B-B14F-4D97-AF65-F5344CB8AC3E}">
        <p14:creationId xmlns:p14="http://schemas.microsoft.com/office/powerpoint/2010/main" val="69100032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2026-10-24T20:14:28.1040000Z</dcterms:created>
  <dcterms:modified xsi:type="dcterms:W3CDTF">2026-10-24T20:14:28.1040000Z</dcterms:modified>
</coreProperties>
</file>